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-91440"/>
            <a:ext cx="2926080" cy="2926080"/>
          </a:xfrm>
          <a:prstGeom prst="ellipse">
            <a:avLst/>
          </a:prstGeom>
          <a:solidFill>
            <a:srgbClr val="145DA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0" y="4069080"/>
            <a:ext cx="1920240" cy="1920240"/>
          </a:xfrm>
          <a:prstGeom prst="ellipse">
            <a:avLst/>
          </a:prstGeom>
          <a:solidFill>
            <a:srgbClr val="145DA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572000"/>
            <a:ext cx="1828800" cy="1828800"/>
          </a:xfrm>
          <a:prstGeom prst="ellipse">
            <a:avLst/>
          </a:prstGeom>
          <a:solidFill>
            <a:srgbClr val="145DA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64008" cy="25603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SINGULARITY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B4FF"/>
                </a:solidFill>
                <a:latin typeface="Calibri Light"/>
              </a:rPr>
              <a:t>PD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  <a:latin typeface="Calibri Light"/>
              </a:rPr>
              <a:t>Physical Design Run Monitoring &amp; Analytics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72000"/>
            <a:ext cx="20116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PyQt5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4572000"/>
            <a:ext cx="20116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NFS Aware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4572000"/>
            <a:ext cx="20116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FC + Innovus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4572000"/>
            <a:ext cx="20116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Samsung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35508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88A8"/>
                </a:solidFill>
                <a:latin typeface="Calibri Light"/>
              </a:rPr>
              <a:t>Samsung Semiconductor  |  Physical Design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Singularity PD Dashboard?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FF"/>
                </a:solidFill>
                <a:latin typeface="Calibri Light"/>
              </a:rPr>
              <a:t>A single pane of glass for all Physical Design 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45720" cy="5943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8F8"/>
                </a:solidFill>
                <a:latin typeface="Calibri"/>
              </a:rPr>
              <a:t>Centralized monitoring for all FE Synthesis + BE PNR runs across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9152"/>
            <a:ext cx="45720" cy="5943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8F8"/>
                </a:solidFill>
                <a:latin typeface="Calibri"/>
              </a:rPr>
              <a:t>Real-time NFS scan of WS (Workspace) and OUTFEED directories — 200+ concurrent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55264"/>
            <a:ext cx="45720" cy="5943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8F8"/>
                </a:solidFill>
                <a:latin typeface="Calibri"/>
              </a:rPr>
              <a:t>Supports both FC and Innovus PNR tool flows with unified status display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51376"/>
            <a:ext cx="45720" cy="5943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788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8F8"/>
                </a:solidFill>
                <a:latin typeface="Calibri"/>
              </a:rPr>
              <a:t>Built with PyQt5 — native Linux desktop, zero browser 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47488"/>
            <a:ext cx="45720" cy="5943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8F8"/>
                </a:solidFill>
                <a:latin typeface="Calibri"/>
              </a:rPr>
              <a:t>Replaces manual directory browsing, grep-based status checks, and spreadsheet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15000"/>
            <a:ext cx="3474720" cy="9144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733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FF"/>
                </a:solidFill>
                <a:latin typeface="Calibri"/>
              </a:rPr>
              <a:t>200+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90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Concurrent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5715000"/>
            <a:ext cx="3474720" cy="9144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5733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190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Tool 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5715000"/>
            <a:ext cx="3474720" cy="9144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5733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FF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6190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Manual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FF"/>
                </a:solidFill>
                <a:latin typeface="Calibri Light"/>
              </a:rPr>
              <a:t>Run Monitoring  ·  Signoff Integration  · 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Samsung Semiconductor  |  Physical Design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5212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57784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▶  Run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Live scan of 200+ concurrent runs across WS &amp; OUTFEED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FE synthesis status:  RUNNING / COMPLETED / FAILED / INTERRUPTED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BE PNR stage-by-stage progress: place_opt, route_opt, chip_finish…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Start time, end time &amp; runtime displayed per PNR stage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Run owner, RTL tag, milestone — all visible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577840" cy="5212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5029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▶  Signoff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FFFF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Formality (FM) status per stage: n2n_func &amp; n2upf_func</a:t>
            </a:r>
          </a:p>
          <a:p>
            <a:pPr>
              <a:spcAft>
                <a:spcPts val="400"/>
              </a:spcAft>
              <a:buChar char="▸"/>
              <a:buClr>
                <a:srgbClr val="FFFF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VSLP / PG-net verification status per PNR step</a:t>
            </a:r>
          </a:p>
          <a:p>
            <a:pPr>
              <a:spcAft>
                <a:spcPts val="400"/>
              </a:spcAft>
              <a:buChar char="▸"/>
              <a:buClr>
                <a:srgbClr val="FFFF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STA timing: WNS / TNS / Num violations (R2R Setup &amp; Hold)</a:t>
            </a:r>
          </a:p>
          <a:p>
            <a:pPr>
              <a:spcAft>
                <a:spcPts val="400"/>
              </a:spcAft>
              <a:buChar char="▸"/>
              <a:buClr>
                <a:srgbClr val="FFFF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Auto color coding: GREEN = PASS  ·  RED = FAIL  ·  GREY = N/A</a:t>
            </a:r>
          </a:p>
          <a:p>
            <a:pPr>
              <a:spcAft>
                <a:spcPts val="400"/>
              </a:spcAft>
              <a:buChar char="▸"/>
              <a:buClr>
                <a:srgbClr val="FFFFFF"/>
              </a:buClr>
              <a:buSzPct val="90000"/>
              <a:ind marL="137160" indent="-137160"/>
            </a:pPr>
            <a:r>
              <a:rPr sz="1400">
                <a:solidFill>
                  <a:srgbClr val="C8DCF0"/>
                </a:solidFill>
                <a:latin typeface="Calibri"/>
              </a:rPr>
              <a:t>Paths resolved lazily in background — zero scan slowdown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Hierarchical Run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FF"/>
                </a:solidFill>
                <a:latin typeface="Calibri Light"/>
              </a:rPr>
              <a:t>Auto-organized by Block → Milestone → RTL Tag → Run →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Samsung Semiconductor  |  Physical Design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28016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5389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19" y="158191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472184"/>
            <a:ext cx="9875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BLK_ISP  /  BLK_NPU  /  BLK_VPU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128016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8541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31343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203704"/>
            <a:ext cx="9418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INITIAL RELEASE  ·  PRE-SVP  ·  SVP  ·  FFN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880360"/>
            <a:ext cx="1280160" cy="50292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91693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RTL 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04495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2935224"/>
            <a:ext cx="8961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EVT1_ML2_DEV3  (auto-detected from run)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611880"/>
            <a:ext cx="1280160" cy="502920"/>
          </a:xfrm>
          <a:prstGeom prst="rect">
            <a:avLst/>
          </a:prstGeom>
          <a:solidFill>
            <a:srgbClr val="0C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64845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77647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39" y="3666744"/>
            <a:ext cx="8503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EVT1_ML2_DEV3_BLK_ISP-FE  →  Status + FM/VSLP signoff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343400"/>
            <a:ext cx="1280160" cy="502920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37997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 RUN 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450799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398264"/>
            <a:ext cx="8046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EVT1_ML2_DEV3_BLK_ISP-BE  →  Expand to see PNR stages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5074920"/>
            <a:ext cx="1280160" cy="502920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511149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FF"/>
                </a:solidFill>
                <a:latin typeface="Calibri"/>
              </a:rPr>
              <a:t>STAGE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5239512"/>
            <a:ext cx="228600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5129783"/>
            <a:ext cx="7589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 Light"/>
              </a:rPr>
              <a:t>place_opt  ·  route_opt  ·  chip_finish  →  Runtime + FM + VSLP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Performance Optimizations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FF"/>
                </a:solidFill>
                <a:latin typeface="Calibri Light"/>
              </a:rPr>
              <a:t>Built for speed on NFS — no main-thread blocking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O(1)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 parent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Hash-map replaces O(n²) recursive tree walk per BE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NFS calls at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All os.path.exists / glob deferred to background threads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4630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Lazy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Stage data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06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FM / VSLP / Runtime resolved only when user expands a node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84048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9319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×10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Faster UI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0749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50-result batch signals vs 500 individual tree repaints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4630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Async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History write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606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JSON history saved in daemon thread — UI never waits on disk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40480"/>
            <a:ext cx="3657600" cy="21488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840480"/>
            <a:ext cx="365760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319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FF"/>
                </a:solidFill>
                <a:latin typeface="Calibri"/>
              </a:rPr>
              <a:t>Warm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63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Path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0749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CE8"/>
                </a:solidFill>
                <a:latin typeface="Calibri Light"/>
              </a:rPr>
              <a:t>Thread-safe NFS stat cache prefetched 1s after tree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Automated Signoff Path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FF"/>
                </a:solidFill>
                <a:latin typeface="Calibri Light"/>
              </a:rPr>
              <a:t>Paths resolved at expand time in background — zero scan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Samsung Semiconductor  |  Physical Design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371600" cy="658368"/>
          </a:xfrm>
          <a:prstGeom prst="rect">
            <a:avLst/>
          </a:prstGeom>
          <a:solidFill>
            <a:srgbClr val="0CB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2704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  n2n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417320"/>
            <a:ext cx="1005840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508760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F"/>
                </a:solidFill>
                <a:latin typeface="Consolas"/>
              </a:rPr>
              <a:t>{OUTFEED}/{BLK}/{EVT}/fm/{run}/{stage}/n2n_func/reports/{BLK}_n2n_func.failpoint.rpt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86584"/>
            <a:ext cx="1371600" cy="658368"/>
          </a:xfrm>
          <a:prstGeom prst="rect">
            <a:avLst/>
          </a:prstGeom>
          <a:solidFill>
            <a:srgbClr val="0CB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  n2upf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386584"/>
            <a:ext cx="1005840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2478024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F"/>
                </a:solidFill>
                <a:latin typeface="Consolas"/>
              </a:rPr>
              <a:t>{OUTFEED}/{BLK}/{EVT}/fm/{run}/{stage}/n2upf_func/reports/{BLK}_n2upf_func.failpoint.rpt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55848"/>
            <a:ext cx="1371600" cy="65836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6557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VSLP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355848"/>
            <a:ext cx="1005840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447288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F"/>
                </a:solidFill>
                <a:latin typeface="Consolas"/>
              </a:rPr>
              <a:t>{OUTFEED}/{BLK}/{EVT}/fm/{run}/{stage}/pgnet/reports/report_lp.rpt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25112"/>
            <a:ext cx="137160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325112"/>
            <a:ext cx="1005840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4416552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F"/>
                </a:solidFill>
                <a:latin typeface="Consolas"/>
              </a:rPr>
              <a:t>{run_dir}/reports/{stage}/{stage}.runtime.rpt   (WS)  or  {stage_dir}/reports/{stage}/{stage}.runtime.rpt   (OUTFEED)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94376"/>
            <a:ext cx="1371600" cy="658368"/>
          </a:xfrm>
          <a:prstGeom prst="rect">
            <a:avLst/>
          </a:prstGeom>
          <a:solidFill>
            <a:srgbClr val="B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4041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5294376"/>
            <a:ext cx="1005840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5385816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F"/>
                </a:solidFill>
                <a:latin typeface="Consolas"/>
              </a:rPr>
              <a:t>{OUTFEED}/{BLK}/{EVT}/pt/{run}/{stage}/reports/sta/summary/summary.rpt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78B"/>
                </a:solidFill>
                <a:latin typeface="Calibri Light"/>
              </a:rPr>
              <a:t>▸  Tries full EVT-prefixed run name first, then stripped name as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FF"/>
                </a:solidFill>
                <a:latin typeface="Calibri Light"/>
              </a:rPr>
              <a:t>Everything you need — in one right-click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QoR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Area · Utilization · Timing WNS/TNS
Logic Depth · LVT/RVT/HVT · CGC% · MBIT%
Leakage Power ·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Block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Side-by-side table for all runs
in a block — sortable, exportable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02336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402336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069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55371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VT Area pie · Std Cell Area bar
R2R WNS bar · Clock Gating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Team Workload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5371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Run distribution per engineer
Double-click engineer → filter tree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667512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667512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6720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Run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720547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Regression detection vs prev run
Flags timing / FM / VSLP regressions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6675120"/>
            <a:ext cx="3703320" cy="2331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6675120"/>
            <a:ext cx="3703320" cy="4572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6720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Mail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7205472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 Light"/>
              </a:rPr>
              <a:t>HTML-formatted table in one click
Auto-populates To / CC from team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Integrated Mail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FF"/>
                </a:solidFill>
                <a:latin typeface="Calibri Light"/>
              </a:rPr>
              <a:t>One-click HTML reports straight from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Samsung Semiconductor  |  Physical Design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788920"/>
            <a:ext cx="27432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1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FF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01168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01168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35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2316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E8"/>
                </a:solidFill>
                <a:latin typeface="Calibri Light"/>
              </a:rPr>
              <a:t>Right-click any run or open Block Summary
then click  Send as 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788920"/>
            <a:ext cx="27432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1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F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417320"/>
            <a:ext cx="201168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39" y="1417320"/>
            <a:ext cx="201168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59" y="1435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Auto-fill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242316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E8"/>
                </a:solidFill>
                <a:latin typeface="Calibri Light"/>
              </a:rPr>
              <a:t>To / CC auto-populated from team member
database — editable before send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788920"/>
            <a:ext cx="27432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FF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59" y="1417320"/>
            <a:ext cx="201168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59" y="1417320"/>
            <a:ext cx="201168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79" y="1435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199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HTML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242316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E8"/>
                </a:solidFill>
                <a:latin typeface="Calibri Light"/>
              </a:rPr>
              <a:t>Body formatted as a clean monospaced
HTML table — renders in any mail 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788920"/>
            <a:ext cx="27432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1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FF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417320"/>
            <a:ext cx="201168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79" y="1417320"/>
            <a:ext cx="201168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9" y="1435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Attachments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242316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E8"/>
                </a:solidFill>
                <a:latin typeface="Calibri Light"/>
              </a:rPr>
              <a:t>Add any report or log file as attachment
with one click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417320"/>
            <a:ext cx="201168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0" y="1417320"/>
            <a:ext cx="201168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1435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42316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E8"/>
                </a:solidFill>
                <a:latin typeface="Calibri Light"/>
              </a:rPr>
              <a:t>Dispatched via  send_mail_for_rhel7
—fm gormat flag for HTML body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Advanced Filtering &amp;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FF"/>
                </a:solidFill>
                <a:latin typeface="Calibri Light"/>
              </a:rPr>
              <a:t>Find any run instantly — across 200+ active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VIEW PRESETS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606040" cy="43891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83080"/>
            <a:ext cx="2606040" cy="438912"/>
          </a:xfrm>
          <a:prstGeom prst="rect">
            <a:avLst/>
          </a:prstGeom>
          <a:solidFill>
            <a:srgbClr val="0C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1965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83080"/>
            <a:ext cx="2606040" cy="438912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1965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783080"/>
            <a:ext cx="260604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1965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Running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2606040" cy="438912"/>
          </a:xfrm>
          <a:prstGeom prst="rect">
            <a:avLst/>
          </a:prstGeom>
          <a:solidFill>
            <a:srgbClr val="B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8658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Failed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350008"/>
            <a:ext cx="2606040" cy="438912"/>
          </a:xfrm>
          <a:prstGeom prst="rect">
            <a:avLst/>
          </a:prstGeom>
          <a:solidFill>
            <a:srgbClr val="28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38658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Today's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350008"/>
            <a:ext cx="2606040" cy="438912"/>
          </a:xfrm>
          <a:prstGeom prst="rect">
            <a:avLst/>
          </a:prstGeom>
          <a:solidFill>
            <a:srgbClr val="B5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8658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Pinned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350008"/>
            <a:ext cx="2606040" cy="43891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38658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Selected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63240"/>
            <a:ext cx="11274552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SEARCH &amp; COLUMN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8"/>
                </a:solidFill>
                <a:latin typeface="Calibri"/>
              </a:rPr>
              <a:t>Full-text search: run name, RTL tag, owner, status (wildcard * supported)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8"/>
                </a:solidFill>
                <a:latin typeface="Calibri"/>
              </a:rPr>
              <a:t>Column filter: right-click any header to filter by unique values in that column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8"/>
                </a:solidFill>
                <a:latin typeface="Calibri"/>
              </a:rPr>
              <a:t>Pin runs: bookmark with colored star icon — persisted across restarts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8"/>
                </a:solidFill>
                <a:latin typeface="Calibri"/>
              </a:rPr>
              <a:t>Ignore runs: moves to collapsed  [ Ignored Runs ]  group — reversible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8"/>
                </a:solidFill>
                <a:latin typeface="Calibri"/>
              </a:rPr>
              <a:t>Tree state preserved: expand / collapse NOT reset when filters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FF"/>
                </a:solidFill>
                <a:latin typeface="Calibri Light"/>
              </a:rPr>
              <a:t>Pure Python — no heavyweight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Samsung Semiconductor  |  Physical Design Team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25880"/>
          <a:ext cx="11457432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5056632"/>
              </a:tblGrid>
              <a:tr h="584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Technology / Library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UI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PyQt5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Native Linux desktop, no browser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Concurrency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QThread + ThreadPoolExecutor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40-thread scan pool; deferred stage workers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File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NFS-aware cached_exists()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Thread-safe path cache; zero double-stats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ConfigParser INI files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project_config.ini, user_prefs.ini — editable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Run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JSON (run_history.json)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Last 20 entries per run; regression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Charts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QPainter (native)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No matplotlib — pure Qt rendering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send_mail_for_rhel7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-fm gormat for HTML; auto CC from team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Metric Extraction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Python regex (metric_extract.py)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3E"/>
                          </a:solidFill>
                        </a:rPr>
                        <a:t>On-demand; never blocks scan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FF"/>
                </a:solidFill>
                <a:latin typeface="Calibri Light"/>
              </a:rPr>
              <a:t>Planned enhancements — contributions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502920"/>
          </a:xfrm>
          <a:prstGeom prst="rect">
            <a:avLst/>
          </a:prstGeom>
          <a:solidFill>
            <a:srgbClr val="0CB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In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703320" cy="43891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0CB46C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Double-click metric value → open report directly in gvim</a:t>
            </a:r>
          </a:p>
          <a:p>
            <a:pPr>
              <a:spcAft>
                <a:spcPts val="400"/>
              </a:spcAft>
              <a:buChar char="▸"/>
              <a:buClr>
                <a:srgbClr val="0CB46C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HVT / RVT / LVT VT ratio with proper prefix grouping</a:t>
            </a:r>
          </a:p>
          <a:p>
            <a:pPr>
              <a:spcAft>
                <a:spcPts val="400"/>
              </a:spcAft>
              <a:buChar char="▸"/>
              <a:buClr>
                <a:srgbClr val="0CB46C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Logic depth tracking — max across all scenarios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03320" cy="5029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8988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Next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703320" cy="43891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Gantt chart for PNR stage timeline visualization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Block Summary: gvim open from any timing / VT cell</a:t>
            </a:r>
          </a:p>
          <a:p>
            <a:pPr>
              <a:spcAft>
                <a:spcPts val="400"/>
              </a:spcAft>
              <a:buChar char="▸"/>
              <a:buClr>
                <a:srgbClr val="00B4FF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Selected Only view — filter to checked runs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033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Future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3703320" cy="43891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  <a:buClr>
                <a:srgbClr val="F5A623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Tapeout countdown timer with milestone tracking</a:t>
            </a:r>
          </a:p>
          <a:p>
            <a:pPr>
              <a:spcAft>
                <a:spcPts val="400"/>
              </a:spcAft>
              <a:buChar char="▸"/>
              <a:buClr>
                <a:srgbClr val="F5A623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IR drop / EM analysis integration via OUTFEED paths</a:t>
            </a:r>
          </a:p>
          <a:p>
            <a:pPr>
              <a:spcAft>
                <a:spcPts val="400"/>
              </a:spcAft>
              <a:buChar char="▸"/>
              <a:buClr>
                <a:srgbClr val="F5A623"/>
              </a:buClr>
              <a:buSzPct val="90000"/>
              <a:ind marL="137160" indent="-137160"/>
            </a:pPr>
            <a:r>
              <a:rPr sz="1400">
                <a:solidFill>
                  <a:srgbClr val="D0E8FF"/>
                </a:solidFill>
                <a:latin typeface="Calibri"/>
              </a:rPr>
              <a:t>Multi-project support — switchable project_config.ini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01000" y="-502920"/>
            <a:ext cx="3200400" cy="3200400"/>
          </a:xfrm>
          <a:prstGeom prst="ellipse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4206240"/>
            <a:ext cx="2194560" cy="2194560"/>
          </a:xfrm>
          <a:prstGeom prst="ellipse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80160" y="4663440"/>
            <a:ext cx="2011680" cy="2011680"/>
          </a:xfrm>
          <a:prstGeom prst="ellipse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64008" cy="2286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SINGULARITY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00B4FF"/>
                </a:solidFill>
                <a:latin typeface="Calibri Light"/>
              </a:rPr>
              <a:t>PD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  <a:latin typeface="Calibri Light"/>
              </a:rPr>
              <a:t>Faster decisions.  Better signoff.  Zero manual browsing.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2764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A8"/>
                </a:solidFill>
                <a:latin typeface="Calibri Light"/>
              </a:rPr>
              <a:t>Physical Design Automation  |  Samsung Semiconductor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