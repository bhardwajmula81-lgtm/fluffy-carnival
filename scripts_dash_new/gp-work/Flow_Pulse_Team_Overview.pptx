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c2dec1efad4ebe" /><Relationship Type="http://schemas.openxmlformats.org/officeDocument/2006/relationships/extended-properties" Target="/docProps/app.xml" Id="Re35984d1020c425f" /><Relationship Type="http://schemas.openxmlformats.org/officeDocument/2006/relationships/officeDocument" Target="/ppt/presentation.xml" Id="R5e936fc0594b4617" /></Relationships>
</file>

<file path=ppt/presentation.xml><?xml version="1.0" encoding="utf-8"?>
<p:presentation xmlns:p="http://schemas.openxmlformats.org/presentationml/2006/main">
  <p:sldMasterIdLst>
    <p:sldMasterId xmlns:r="http://schemas.openxmlformats.org/officeDocument/2006/relationships" id="2147483648" r:id="Rf717f8af0fa4480e"/>
  </p:sldMasterIdLst>
  <p:notesMasterIdLst>
    <p:notesMasterId xmlns:r="http://schemas.openxmlformats.org/officeDocument/2006/relationships" r:id="R4c6c5ed8179e478d"/>
  </p:notesMasterIdLst>
  <p:sldIdLst>
    <p:sldId xmlns:r="http://schemas.openxmlformats.org/officeDocument/2006/relationships" id="256" r:id="Re891471e75d84ff0"/>
    <p:sldId xmlns:r="http://schemas.openxmlformats.org/officeDocument/2006/relationships" id="257" r:id="R8574b368aabd4eb9"/>
    <p:sldId xmlns:r="http://schemas.openxmlformats.org/officeDocument/2006/relationships" id="258" r:id="R9d638b2a64f64b19"/>
    <p:sldId xmlns:r="http://schemas.openxmlformats.org/officeDocument/2006/relationships" id="259" r:id="Rab3473d77b1540b7"/>
    <p:sldId xmlns:r="http://schemas.openxmlformats.org/officeDocument/2006/relationships" id="260" r:id="R9010c7a32c804233"/>
    <p:sldId xmlns:r="http://schemas.openxmlformats.org/officeDocument/2006/relationships" id="261" r:id="Rba34d4a84b1b45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94fdffc10d4810" /><Relationship Type="http://schemas.openxmlformats.org/officeDocument/2006/relationships/slideMaster" Target="/ppt/slideMasters/slideMaster1.xml" Id="Rf717f8af0fa4480e" /><Relationship Type="http://schemas.openxmlformats.org/officeDocument/2006/relationships/notesMaster" Target="/ppt/notesMasters/notesMaster1.xml" Id="R4c6c5ed8179e478d" /><Relationship Type="http://schemas.openxmlformats.org/officeDocument/2006/relationships/presProps" Target="/ppt/presProps.xml" Id="R7ee43cd8f38b405c" /><Relationship Type="http://schemas.openxmlformats.org/officeDocument/2006/relationships/tableStyles" Target="/ppt/tableStyles.xml" Id="R45fd625493394768" /><Relationship Type="http://schemas.openxmlformats.org/officeDocument/2006/relationships/slide" Target="/ppt/slides/slide1.xml" Id="Re891471e75d84ff0" /><Relationship Type="http://schemas.openxmlformats.org/officeDocument/2006/relationships/slide" Target="/ppt/slides/slide2.xml" Id="R8574b368aabd4eb9" /><Relationship Type="http://schemas.openxmlformats.org/officeDocument/2006/relationships/slide" Target="/ppt/slides/slide3.xml" Id="R9d638b2a64f64b19" /><Relationship Type="http://schemas.openxmlformats.org/officeDocument/2006/relationships/slide" Target="/ppt/slides/slide4.xml" Id="Rab3473d77b1540b7" /><Relationship Type="http://schemas.openxmlformats.org/officeDocument/2006/relationships/slide" Target="/ppt/slides/slide5.xml" Id="R9010c7a32c804233" /><Relationship Type="http://schemas.openxmlformats.org/officeDocument/2006/relationships/slide" Target="/ppt/slides/slide6.xml" Id="Rba34d4a84b1b45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0dc28fd8cf46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89fabf70454603" /><Relationship Type="http://schemas.openxmlformats.org/officeDocument/2006/relationships/notesMaster" Target="/ppt/notesMasters/notesMaster1.xml" Id="Re5ae66dd516545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cad7ec41194e3a" /><Relationship Type="http://schemas.openxmlformats.org/officeDocument/2006/relationships/notesMaster" Target="/ppt/notesMasters/notesMaster1.xml" Id="R38551431e9ed49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186ceb9e5a4a13" /><Relationship Type="http://schemas.openxmlformats.org/officeDocument/2006/relationships/notesMaster" Target="/ppt/notesMasters/notesMaster1.xml" Id="R3f51d2c0425640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edd9bf148a4488" /><Relationship Type="http://schemas.openxmlformats.org/officeDocument/2006/relationships/notesMaster" Target="/ppt/notesMasters/notesMaster1.xml" Id="Refedc903e5ca49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c580edf8c747e5" /><Relationship Type="http://schemas.openxmlformats.org/officeDocument/2006/relationships/notesMaster" Target="/ppt/notesMasters/notesMaster1.xml" Id="R740f63cad32247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1df5fbac8d44a9" /><Relationship Type="http://schemas.openxmlformats.org/officeDocument/2006/relationships/notesMaster" Target="/ppt/notesMasters/notesMaster1.xml" Id="Rbb42f30dcab345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idea is a unified dashboard for tracking run statuses and TAT from synthesis to PNR. The objective is to connect progress with the timing and quality evidence needed for implementation reviews. Engineers can move from an overview to a specific run, inspect its stage history and compare the result with another baseline. TAT means turnaround time and QoR means quality of results. Current timing evidence consists of run and stage runtime plus start/end timestamps.</a:t>
            </a:r>
          </a:p>
          <a:p xmlns:a="http://schemas.openxmlformats.org/drawingml/2006/main">
            <a:r>
              <a:t/>
            </a:r>
          </a:p>
          <a:p xmlns:a="http://schemas.openxmlformats.org/drawingml/2006/main">
            <a:r>
              <a:t>Source: User positioning statement; Flow Pulse main.py run/stage views and comparison actions. Cover: conceptual artwork generated with the built-in image-generation tool, not an actual device or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fragmented visibility. Status, runtime and QoR already exist in logs and reports, but they are spread across workspace and published run folders. To answer even a simple review question, an engineer often needs to locate the right run, check multiple files and assemble the results. Flow Pulse aims to reduce this repeated collation. These are the workflow problems the concept addresses, not quantified productivity measurements.</a:t>
            </a:r>
          </a:p>
          <a:p xmlns:a="http://schemas.openxmlformats.org/drawingml/2006/main">
            <a:r>
              <a:t/>
            </a:r>
          </a:p>
          <a:p xmlns:a="http://schemas.openxmlformats.org/drawingml/2006/main">
            <a:r>
              <a:t>Source: User project context; main.py workspace/OUTFEED views, BranchStatusDialog and metric comparison workflows; workers.py ScannerWorker.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works with existing project outputs. First, it discovers runs from workspace and OUTFEED directories. It organizes them by release and block, preserving the front-end parent and back-end child relationship. It reads available reports and logs to surface status, start/end times and runtime. The final step is review: engineers compare selected runs, inspect metric differences and use a pinned golden reference. This is a monitoring and analysis workflow. It does not schedule or execute implementation jobs. Report availability and project configuration determine the detail shown.</a:t>
            </a:r>
          </a:p>
          <a:p xmlns:a="http://schemas.openxmlformats.org/drawingml/2006/main">
            <a:r>
              <a:t/>
            </a:r>
          </a:p>
          <a:p xmlns:a="http://schemas.openxmlformats.org/drawingml/2006/main">
            <a:r>
              <a:t>Source: workers.py ScannerWorker; main.py PDDashboard._build_tree, _create_run_item, _populate_stage_rows, run_qor_comparison, show_ror_metric_diff, show_golden_benchmark.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hierarchy based on the requested sketch. Release and block context lead to a synthesis FE parent. A single FE run can have multiple BE child runs, and each BE branch contains its own PNR stage rows. Stage names and ordering depend on the tool and available project reports. Placement, CTS, routing and route optimization are example step labels. FE context includes QoR, formal equivalence (FM), low-power checks (VSLP) and PT timing reports when available. Engineers can share status and QoR by mail, compare run metrics and golden references, inspect allocated disk space, and review the latest published OUTFEED status.</a:t>
            </a:r>
          </a:p>
          <a:p xmlns:a="http://schemas.openxmlformats.org/drawingml/2006/main">
            <a:r>
              <a:t/>
            </a:r>
          </a:p>
          <a:p xmlns:a="http://schemas.openxmlformats.org/drawingml/2006/main">
            <a:r>
              <a:t>Sources: user-provided hierarchy sketch; main.py _build_tree, _populate_stage_rows, mail/report actions, show_golden_benchmark, DiskUsageDialog and LatestOutfeedStatusDialog. Source filtering on cross-source PNR children is a verified pending bug and is not represented as fixed by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comes from using the same run context throughout a review. Engineers see status, stage timing and ownership together, then move into logs and reports when a run needs attention. QoR comparisons support baseline decisions with evidence. Mail and status summaries help communicate results, including the latest published OUTFEED runs. These are intended workflow benefits, not measured productivity gains. A live-project pilot can quantify the time spent on status preparation and issue triage.</a:t>
            </a:r>
          </a:p>
          <a:p xmlns:a="http://schemas.openxmlformats.org/drawingml/2006/main">
            <a:r>
              <a:t/>
            </a:r>
          </a:p>
          <a:p xmlns:a="http://schemas.openxmlformats.org/drawingml/2006/main">
            <a:r>
              <a:t>Source: user goals; main.py run/stage views, log/report actions, QoR comparisons, mail workflows and LatestOutfeedStatusDialog.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screenshot placeholder with a clean view of the live dashboard. A useful view shows an FE run expanded into its BE children and PNR stages, with source, RTL release and runtime columns visible. Keep the screenshot aspect ratio and avoid including confidential path or user information unless appropriate for the internal audience. The frame has a 16:9 aspect ratio.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0ae2daee064a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1959bf460a499d" /><Relationship Type="http://schemas.openxmlformats.org/officeDocument/2006/relationships/slideLayout" Target="/ppt/slideLayouts/slideLayout1.xml" Id="R83cf5a801e1e49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cf5a801e1e49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53a421ad40414c" /><Relationship Type="http://schemas.openxmlformats.org/officeDocument/2006/relationships/image" Target="/ppt/media/image.png" Id="Rceec4633fa07451b" /><Relationship Type="http://schemas.openxmlformats.org/officeDocument/2006/relationships/notesSlide" Target="/ppt/notesSlides/notesSlide1.xml" Id="R6ccba41085624e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75e3dc8f29400c" /><Relationship Type="http://schemas.openxmlformats.org/officeDocument/2006/relationships/notesSlide" Target="/ppt/notesSlides/notesSlide2.xml" Id="Ra12c45a0defb41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e105081fd54da2" /><Relationship Type="http://schemas.openxmlformats.org/officeDocument/2006/relationships/notesSlide" Target="/ppt/notesSlides/notesSlide3.xml" Id="R490934fd21dd4d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09bab7eefe4e7a" /><Relationship Type="http://schemas.openxmlformats.org/officeDocument/2006/relationships/notesSlide" Target="/ppt/notesSlides/notesSlide4.xml" Id="R7e62098e318d40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c269b0921a4021" /><Relationship Type="http://schemas.openxmlformats.org/officeDocument/2006/relationships/notesSlide" Target="/ppt/notesSlides/notesSlide5.xml" Id="Ra592141199d743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0454a937154ecf" /><Relationship Type="http://schemas.openxmlformats.org/officeDocument/2006/relationships/notesSlide" Target="/ppt/notesSlides/notesSlide6.xml" Id="Rc0619301578948bf" /></Relationships>
</file>

<file path=ppt/slides/slide1.xml><?xml version="1.0" encoding="utf-8"?>
<p:sld xmlns:p="http://schemas.openxmlformats.org/presentationml/2006/main">
  <p:cSld>
    <p:bg>
      <p:bgPr>
        <a:solidFill xmlns:a="http://schemas.openxmlformats.org/drawingml/2006/main">
          <a:srgbClr val="08151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eec4633fa07451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FLOW PULSE">
            <a:extLst xmlns:a="http://schemas.openxmlformats.org/drawingml/2006/main">
              <a:ext uri="{FF2B5EF4-FFF2-40B4-BE49-F238E27FC236}">
                <a16:creationId xmlns:a16="http://schemas.microsoft.com/office/drawing/2014/main" id="{E82904DC-B516-483F-937C-B6539D0CB9E5}"/>
              </a:ext>
            </a:extLst>
          </p:cNvPr>
          <p:cNvSpPr>
            <a:spLocks xmlns:a="http://schemas.openxmlformats.org/drawingml/2006/main" noGrp="1"/>
          </p:cNvSpPr>
          <p:nvPr/>
        </p:nvSpPr>
        <p:spPr>
          <a:xfrm xmlns:a="http://schemas.openxmlformats.org/drawingml/2006/main">
            <a:off x="666750" y="54292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70DDD6"/>
                </a:solidFill>
                <a:latin typeface="Segoe UI"/>
                <a:ea typeface="Segoe UI"/>
                <a:cs typeface="Segoe UI"/>
              </a:defRPr>
            </a:pPr>
            <a:r>
              <a:rPr sz="2100" b="1">
                <a:solidFill>
                  <a:srgbClr val="70DDD6"/>
                </a:solidFill>
                <a:latin typeface="Segoe UI"/>
                <a:ea typeface="Segoe UI"/>
                <a:cs typeface="Segoe UI"/>
              </a:rPr>
              <a:t>FLOW PULSE</a:t>
            </a:r>
          </a:p>
        </p:txBody>
      </p:sp>
      <p:sp>
        <p:nvSpPr>
          <p:cNvPr id="3" name="Unified run visibility">
            <a:extLst xmlns:a="http://schemas.openxmlformats.org/drawingml/2006/main">
              <a:ext uri="{FF2B5EF4-FFF2-40B4-BE49-F238E27FC236}">
                <a16:creationId xmlns:a16="http://schemas.microsoft.com/office/drawing/2014/main" id="{96BA2387-7EF3-41DA-8FF9-E5EEB9C4740B}"/>
              </a:ext>
            </a:extLst>
          </p:cNvPr>
          <p:cNvSpPr>
            <a:spLocks xmlns:a="http://schemas.openxmlformats.org/drawingml/2006/main" noGrp="1"/>
          </p:cNvSpPr>
          <p:nvPr/>
        </p:nvSpPr>
        <p:spPr>
          <a:xfrm xmlns:a="http://schemas.openxmlformats.org/drawingml/2006/main">
            <a:off x="638175" y="1600200"/>
            <a:ext cx="800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1">
                <a:solidFill>
                  <a:srgbClr val="FFFFFF"/>
                </a:solidFill>
                <a:latin typeface="Segoe UI"/>
                <a:ea typeface="Segoe UI"/>
                <a:cs typeface="Segoe UI"/>
              </a:defRPr>
            </a:pPr>
            <a:r>
              <a:rPr sz="4800" b="1">
                <a:solidFill>
                  <a:srgbClr val="FFFFFF"/>
                </a:solidFill>
                <a:latin typeface="Segoe UI"/>
                <a:ea typeface="Segoe UI"/>
                <a:cs typeface="Segoe UI"/>
              </a:rPr>
              <a:t>Unified run visibility</a:t>
            </a:r>
          </a:p>
        </p:txBody>
      </p:sp>
      <p:sp>
        <p:nvSpPr>
          <p:cNvPr id="4" name="from synth to PNR">
            <a:extLst xmlns:a="http://schemas.openxmlformats.org/drawingml/2006/main">
              <a:ext uri="{FF2B5EF4-FFF2-40B4-BE49-F238E27FC236}">
                <a16:creationId xmlns:a16="http://schemas.microsoft.com/office/drawing/2014/main" id="{D4E7E279-E7E9-4292-8100-FB6DFC3A37E4}"/>
              </a:ext>
            </a:extLst>
          </p:cNvPr>
          <p:cNvSpPr>
            <a:spLocks xmlns:a="http://schemas.openxmlformats.org/drawingml/2006/main" noGrp="1"/>
          </p:cNvSpPr>
          <p:nvPr/>
        </p:nvSpPr>
        <p:spPr>
          <a:xfrm xmlns:a="http://schemas.openxmlformats.org/drawingml/2006/main">
            <a:off x="638175" y="2466975"/>
            <a:ext cx="752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70DDD6"/>
                </a:solidFill>
                <a:latin typeface="Segoe UI Light"/>
                <a:ea typeface="Segoe UI Light"/>
                <a:cs typeface="Segoe UI Light"/>
              </a:defRPr>
            </a:pPr>
            <a:r>
              <a:rPr sz="4800" b="0">
                <a:solidFill>
                  <a:srgbClr val="70DDD6"/>
                </a:solidFill>
                <a:latin typeface="Segoe UI Light"/>
                <a:ea typeface="Segoe UI Light"/>
                <a:cs typeface="Segoe UI Light"/>
              </a:rPr>
              <a:t>from synth to PNR</a:t>
            </a:r>
          </a:p>
        </p:txBody>
      </p:sp>
      <p:sp>
        <p:nvSpPr>
          <p:cNvPr id="5" name="Run status and turnaround time in one dashboard.">
            <a:extLst xmlns:a="http://schemas.openxmlformats.org/drawingml/2006/main">
              <a:ext uri="{FF2B5EF4-FFF2-40B4-BE49-F238E27FC236}">
                <a16:creationId xmlns:a16="http://schemas.microsoft.com/office/drawing/2014/main" id="{4BD6300E-AFAC-4E45-AC65-2EB27ED2A56F}"/>
              </a:ext>
            </a:extLst>
          </p:cNvPr>
          <p:cNvSpPr>
            <a:spLocks xmlns:a="http://schemas.openxmlformats.org/drawingml/2006/main" noGrp="1"/>
          </p:cNvSpPr>
          <p:nvPr/>
        </p:nvSpPr>
        <p:spPr>
          <a:xfrm xmlns:a="http://schemas.openxmlformats.org/drawingml/2006/main">
            <a:off x="676275" y="3743325"/>
            <a:ext cx="695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FFFFF"/>
                </a:solidFill>
                <a:latin typeface="Segoe UI"/>
                <a:ea typeface="Segoe UI"/>
                <a:cs typeface="Segoe UI"/>
              </a:defRPr>
            </a:pPr>
            <a:r>
              <a:rPr sz="2025" b="0">
                <a:solidFill>
                  <a:srgbClr val="FFFFFF"/>
                </a:solidFill>
                <a:latin typeface="Segoe UI"/>
                <a:ea typeface="Segoe UI"/>
                <a:cs typeface="Segoe UI"/>
              </a:rPr>
              <a:t>Run status and turnaround time in one dashboard.</a:t>
            </a:r>
          </a:p>
          <a:p xmlns:a="http://schemas.openxmlformats.org/drawingml/2006/main">
            <a:pPr>
              <a:buNone/>
              <a:defRPr sz="2025" b="0">
                <a:solidFill>
                  <a:srgbClr val="FFFFFF"/>
                </a:solidFill>
                <a:latin typeface="Segoe UI"/>
                <a:ea typeface="Segoe UI"/>
                <a:cs typeface="Segoe UI"/>
              </a:defRPr>
            </a:pPr>
            <a:r>
              <a:rPr sz="2025" b="0">
                <a:solidFill>
                  <a:srgbClr val="FFFFFF"/>
                </a:solidFill>
                <a:latin typeface="Segoe UI"/>
                <a:ea typeface="Segoe UI"/>
                <a:cs typeface="Segoe UI"/>
              </a:rPr>
              <a:t>QoR comparison across multiple baselines.</a:t>
            </a:r>
          </a:p>
        </p:txBody>
      </p:sp>
      <p:sp>
        <p:nvSpPr>
          <p:cNvPr id="6" name="THE IDEA">
            <a:extLst xmlns:a="http://schemas.openxmlformats.org/drawingml/2006/main">
              <a:ext uri="{FF2B5EF4-FFF2-40B4-BE49-F238E27FC236}">
                <a16:creationId xmlns:a16="http://schemas.microsoft.com/office/drawing/2014/main" id="{E0FC65F2-F6CB-4637-8670-2142A36F2361}"/>
              </a:ext>
            </a:extLst>
          </p:cNvPr>
          <p:cNvSpPr>
            <a:spLocks xmlns:a="http://schemas.openxmlformats.org/drawingml/2006/main" noGrp="1"/>
          </p:cNvSpPr>
          <p:nvPr/>
        </p:nvSpPr>
        <p:spPr>
          <a:xfrm xmlns:a="http://schemas.openxmlformats.org/drawingml/2006/main">
            <a:off x="685800" y="54292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70DDD6"/>
                </a:solidFill>
                <a:latin typeface="Segoe UI"/>
                <a:ea typeface="Segoe UI"/>
                <a:cs typeface="Segoe UI"/>
              </a:defRPr>
            </a:pPr>
            <a:r>
              <a:rPr sz="1275" b="1">
                <a:solidFill>
                  <a:srgbClr val="70DDD6"/>
                </a:solidFill>
                <a:latin typeface="Segoe UI"/>
                <a:ea typeface="Segoe UI"/>
                <a:cs typeface="Segoe UI"/>
              </a:rPr>
              <a:t>THE IDEA</a:t>
            </a:r>
          </a:p>
        </p:txBody>
      </p:sp>
      <p:sp>
        <p:nvSpPr>
          <p:cNvPr id="7" name="Connect each run to its stages, timing and results">
            <a:extLst xmlns:a="http://schemas.openxmlformats.org/drawingml/2006/main">
              <a:ext uri="{FF2B5EF4-FFF2-40B4-BE49-F238E27FC236}">
                <a16:creationId xmlns:a16="http://schemas.microsoft.com/office/drawing/2014/main" id="{53C91E17-5A1C-4ACA-B23B-B54A68FCE70B}"/>
              </a:ext>
            </a:extLst>
          </p:cNvPr>
          <p:cNvSpPr>
            <a:spLocks xmlns:a="http://schemas.openxmlformats.org/drawingml/2006/main" noGrp="1"/>
          </p:cNvSpPr>
          <p:nvPr/>
        </p:nvSpPr>
        <p:spPr>
          <a:xfrm xmlns:a="http://schemas.openxmlformats.org/drawingml/2006/main">
            <a:off x="676275" y="5781675"/>
            <a:ext cx="6905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BCAD0"/>
                </a:solidFill>
                <a:latin typeface="Segoe UI"/>
                <a:ea typeface="Segoe UI"/>
                <a:cs typeface="Segoe UI"/>
              </a:defRPr>
            </a:pPr>
            <a:r>
              <a:rPr sz="1800" b="0">
                <a:solidFill>
                  <a:srgbClr val="BBCAD0"/>
                </a:solidFill>
                <a:latin typeface="Segoe UI"/>
                <a:ea typeface="Segoe UI"/>
                <a:cs typeface="Segoe UI"/>
              </a:rPr>
              <a:t>Connect each run to its stages, timing and results</a:t>
            </a:r>
          </a:p>
          <a:p xmlns:a="http://schemas.openxmlformats.org/drawingml/2006/main">
            <a:pPr>
              <a:buNone/>
              <a:defRPr sz="1800" b="0">
                <a:solidFill>
                  <a:srgbClr val="BBCAD0"/>
                </a:solidFill>
                <a:latin typeface="Segoe UI"/>
                <a:ea typeface="Segoe UI"/>
                <a:cs typeface="Segoe UI"/>
              </a:defRPr>
            </a:pPr>
            <a:r>
              <a:rPr sz="1800" b="0">
                <a:solidFill>
                  <a:srgbClr val="BBCAD0"/>
                </a:solidFill>
                <a:latin typeface="Segoe UI"/>
                <a:ea typeface="Segoe UI"/>
                <a:cs typeface="Segoe UI"/>
              </a:rPr>
              <a:t>so the team can review the flow as a whole.</a:t>
            </a:r>
          </a:p>
        </p:txBody>
      </p:sp>
    </p:spTree>
    <p:extLst>
      <p:ext uri="{BB962C8B-B14F-4D97-AF65-F5344CB8AC3E}">
        <p14:creationId xmlns:p14="http://schemas.microsoft.com/office/powerpoint/2010/main" val="847259033"/>
      </p:ext>
    </p:extLst>
  </p:cSld>
</p:sld>
</file>

<file path=ppt/slides/slide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2" name="THE PROBLEM">
            <a:extLst xmlns:a="http://schemas.openxmlformats.org/drawingml/2006/main">
              <a:ext uri="{FF2B5EF4-FFF2-40B4-BE49-F238E27FC236}">
                <a16:creationId xmlns:a16="http://schemas.microsoft.com/office/drawing/2014/main" id="{E01FB74E-94D0-43AC-A90E-970F85842331}"/>
              </a:ext>
            </a:extLst>
          </p:cNvPr>
          <p:cNvSpPr>
            <a:spLocks xmlns:a="http://schemas.openxmlformats.org/drawingml/2006/main" noGrp="1"/>
          </p:cNvSpPr>
          <p:nvPr/>
        </p:nvSpPr>
        <p:spPr>
          <a:xfrm xmlns:a="http://schemas.openxmlformats.org/drawingml/2006/main">
            <a:off x="685800" y="4667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07F88"/>
                </a:solidFill>
                <a:latin typeface="Segoe UI"/>
                <a:ea typeface="Segoe UI"/>
                <a:cs typeface="Segoe UI"/>
              </a:defRPr>
            </a:pPr>
            <a:r>
              <a:rPr sz="1350" b="1">
                <a:solidFill>
                  <a:srgbClr val="007F88"/>
                </a:solidFill>
                <a:latin typeface="Segoe UI"/>
                <a:ea typeface="Segoe UI"/>
                <a:cs typeface="Segoe UI"/>
              </a:rPr>
              <a:t>THE PROBLEM</a:t>
            </a:r>
          </a:p>
        </p:txBody>
      </p:sp>
      <p:sp>
        <p:nvSpPr>
          <p:cNvPr id="2" name="02">
            <a:extLst xmlns:a="http://schemas.openxmlformats.org/drawingml/2006/main">
              <a:ext uri="{FF2B5EF4-FFF2-40B4-BE49-F238E27FC236}">
                <a16:creationId xmlns:a16="http://schemas.microsoft.com/office/drawing/2014/main" id="{F0B18DA2-20A8-443C-8D02-38E1E1275BA0}"/>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46C"/>
                </a:solidFill>
                <a:latin typeface="Segoe UI"/>
                <a:ea typeface="Segoe UI"/>
                <a:cs typeface="Segoe UI"/>
              </a:defRPr>
            </a:pPr>
            <a:r>
              <a:rPr sz="1275" b="0">
                <a:solidFill>
                  <a:srgbClr val="52646C"/>
                </a:solidFill>
                <a:latin typeface="Segoe UI"/>
                <a:ea typeface="Segoe UI"/>
                <a:cs typeface="Segoe UI"/>
              </a:rPr>
              <a:t>02</a:t>
            </a:r>
          </a:p>
        </p:txBody>
      </p:sp>
      <p:sp>
        <p:nvSpPr>
          <p:cNvPr id="3" name="The run-tracking gap">
            <a:extLst xmlns:a="http://schemas.openxmlformats.org/drawingml/2006/main">
              <a:ext uri="{FF2B5EF4-FFF2-40B4-BE49-F238E27FC236}">
                <a16:creationId xmlns:a16="http://schemas.microsoft.com/office/drawing/2014/main" id="{33C0495F-5A08-4DB0-9377-10EB14901267}"/>
              </a:ext>
            </a:extLst>
          </p:cNvPr>
          <p:cNvSpPr>
            <a:spLocks xmlns:a="http://schemas.openxmlformats.org/drawingml/2006/main" noGrp="1"/>
          </p:cNvSpPr>
          <p:nvPr/>
        </p:nvSpPr>
        <p:spPr>
          <a:xfrm xmlns:a="http://schemas.openxmlformats.org/drawingml/2006/main">
            <a:off x="666750" y="103822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750" b="1">
                <a:solidFill>
                  <a:srgbClr val="102A36"/>
                </a:solidFill>
                <a:latin typeface="Segoe UI"/>
                <a:ea typeface="Segoe UI"/>
                <a:cs typeface="Segoe UI"/>
              </a:defRPr>
            </a:pPr>
            <a:r>
              <a:rPr sz="3750" b="1">
                <a:solidFill>
                  <a:srgbClr val="102A36"/>
                </a:solidFill>
                <a:latin typeface="Segoe UI"/>
                <a:ea typeface="Segoe UI"/>
                <a:cs typeface="Segoe UI"/>
              </a:rPr>
              <a:t>The run-tracking gap</a:t>
            </a:r>
          </a:p>
        </p:txBody>
      </p:sp>
      <p:sp>
        <p:nvSpPr>
          <p:cNvPr id="4" name="Status lives across">
            <a:extLst xmlns:a="http://schemas.openxmlformats.org/drawingml/2006/main">
              <a:ext uri="{FF2B5EF4-FFF2-40B4-BE49-F238E27FC236}">
                <a16:creationId xmlns:a16="http://schemas.microsoft.com/office/drawing/2014/main" id="{69B35379-AB37-40C9-A465-5289F6C46119}"/>
              </a:ext>
            </a:extLst>
          </p:cNvPr>
          <p:cNvSpPr>
            <a:spLocks xmlns:a="http://schemas.openxmlformats.org/drawingml/2006/main" noGrp="1"/>
          </p:cNvSpPr>
          <p:nvPr/>
        </p:nvSpPr>
        <p:spPr>
          <a:xfrm xmlns:a="http://schemas.openxmlformats.org/drawingml/2006/main">
            <a:off x="666750" y="2200275"/>
            <a:ext cx="5381625"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750" b="0">
                <a:solidFill>
                  <a:srgbClr val="102A36"/>
                </a:solidFill>
                <a:latin typeface="Segoe UI Light"/>
                <a:ea typeface="Segoe UI Light"/>
                <a:cs typeface="Segoe UI Light"/>
              </a:defRPr>
            </a:pPr>
            <a:r>
              <a:rPr sz="3750" b="0">
                <a:solidFill>
                  <a:srgbClr val="102A36"/>
                </a:solidFill>
                <a:latin typeface="Segoe UI Light"/>
                <a:ea typeface="Segoe UI Light"/>
                <a:cs typeface="Segoe UI Light"/>
              </a:rPr>
              <a:t>Status lives across</a:t>
            </a:r>
          </a:p>
          <a:p xmlns:a="http://schemas.openxmlformats.org/drawingml/2006/main">
            <a:pPr>
              <a:buNone/>
              <a:defRPr sz="3750" b="0">
                <a:solidFill>
                  <a:srgbClr val="102A36"/>
                </a:solidFill>
                <a:latin typeface="Segoe UI Light"/>
                <a:ea typeface="Segoe UI Light"/>
                <a:cs typeface="Segoe UI Light"/>
              </a:defRPr>
            </a:pPr>
            <a:r>
              <a:rPr sz="3750" b="0">
                <a:solidFill>
                  <a:srgbClr val="102A36"/>
                </a:solidFill>
                <a:latin typeface="Segoe UI Light"/>
                <a:ea typeface="Segoe UI Light"/>
                <a:cs typeface="Segoe UI Light"/>
              </a:rPr>
              <a:t>folders, logs</a:t>
            </a:r>
          </a:p>
          <a:p xmlns:a="http://schemas.openxmlformats.org/drawingml/2006/main">
            <a:pPr>
              <a:buNone/>
              <a:defRPr sz="3750" b="0">
                <a:solidFill>
                  <a:srgbClr val="102A36"/>
                </a:solidFill>
                <a:latin typeface="Segoe UI Light"/>
                <a:ea typeface="Segoe UI Light"/>
                <a:cs typeface="Segoe UI Light"/>
              </a:defRPr>
            </a:pPr>
            <a:r>
              <a:rPr sz="3750" b="0">
                <a:solidFill>
                  <a:srgbClr val="102A36"/>
                </a:solidFill>
                <a:latin typeface="Segoe UI Light"/>
                <a:ea typeface="Segoe UI Light"/>
                <a:cs typeface="Segoe UI Light"/>
              </a:rPr>
              <a:t>and reports</a:t>
            </a:r>
          </a:p>
        </p:txBody>
      </p:sp>
      <p:sp>
        <p:nvSpPr>
          <p:cNvPr id="5" name="The team has to assemble the context">
            <a:extLst xmlns:a="http://schemas.openxmlformats.org/drawingml/2006/main">
              <a:ext uri="{FF2B5EF4-FFF2-40B4-BE49-F238E27FC236}">
                <a16:creationId xmlns:a16="http://schemas.microsoft.com/office/drawing/2014/main" id="{D2CA2BBA-0FC2-46AD-B3FC-7C0E1EA02923}"/>
              </a:ext>
            </a:extLst>
          </p:cNvPr>
          <p:cNvSpPr>
            <a:spLocks xmlns:a="http://schemas.openxmlformats.org/drawingml/2006/main" noGrp="1"/>
          </p:cNvSpPr>
          <p:nvPr/>
        </p:nvSpPr>
        <p:spPr>
          <a:xfrm xmlns:a="http://schemas.openxmlformats.org/drawingml/2006/main">
            <a:off x="704850" y="481965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2646C"/>
                </a:solidFill>
                <a:latin typeface="Segoe UI"/>
                <a:ea typeface="Segoe UI"/>
                <a:cs typeface="Segoe UI"/>
              </a:defRPr>
            </a:pPr>
            <a:r>
              <a:rPr sz="2025" b="0">
                <a:solidFill>
                  <a:srgbClr val="52646C"/>
                </a:solidFill>
                <a:latin typeface="Segoe UI"/>
                <a:ea typeface="Segoe UI"/>
                <a:cs typeface="Segoe UI"/>
              </a:rPr>
              <a:t>Engineers open multiple folders and</a:t>
            </a:r>
          </a:p>
          <a:p xmlns:a="http://schemas.openxmlformats.org/drawingml/2006/main">
            <a:pPr>
              <a:buNone/>
              <a:defRPr sz="2025" b="0">
                <a:solidFill>
                  <a:srgbClr val="52646C"/>
                </a:solidFill>
                <a:latin typeface="Segoe UI"/>
                <a:ea typeface="Segoe UI"/>
                <a:cs typeface="Segoe UI"/>
              </a:defRPr>
            </a:pPr>
            <a:r>
              <a:rPr sz="2025" b="0">
                <a:solidFill>
                  <a:srgbClr val="52646C"/>
                </a:solidFill>
                <a:latin typeface="Segoe UI"/>
                <a:ea typeface="Segoe UI"/>
                <a:cs typeface="Segoe UI"/>
              </a:rPr>
              <a:t>reports to check run progress.</a:t>
            </a:r>
          </a:p>
        </p:txBody>
      </p:sp>
      <p:sp>
        <p:nvSpPr>
          <p:cNvPr id="6" name="Progress">
            <a:extLst xmlns:a="http://schemas.openxmlformats.org/drawingml/2006/main">
              <a:ext uri="{FF2B5EF4-FFF2-40B4-BE49-F238E27FC236}">
                <a16:creationId xmlns:a16="http://schemas.microsoft.com/office/drawing/2014/main" id="{2F9EC62E-BB86-4001-8AB8-0C41DEBD6D84}"/>
              </a:ext>
            </a:extLst>
          </p:cNvPr>
          <p:cNvSpPr>
            <a:spLocks xmlns:a="http://schemas.openxmlformats.org/drawingml/2006/main" noGrp="1"/>
          </p:cNvSpPr>
          <p:nvPr/>
        </p:nvSpPr>
        <p:spPr>
          <a:xfrm xmlns:a="http://schemas.openxmlformats.org/drawingml/2006/main">
            <a:off x="6619875" y="21240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7F88"/>
                </a:solidFill>
                <a:latin typeface="Segoe UI"/>
                <a:ea typeface="Segoe UI"/>
                <a:cs typeface="Segoe UI"/>
              </a:defRPr>
            </a:pPr>
            <a:r>
              <a:rPr sz="2100" b="1">
                <a:solidFill>
                  <a:srgbClr val="007F88"/>
                </a:solidFill>
                <a:latin typeface="Segoe UI"/>
                <a:ea typeface="Segoe UI"/>
                <a:cs typeface="Segoe UI"/>
              </a:rPr>
              <a:t>Progress</a:t>
            </a:r>
          </a:p>
        </p:txBody>
      </p:sp>
      <p:sp>
        <p:nvSpPr>
          <p:cNvPr id="7" name="Manual checks to identify active,">
            <a:extLst xmlns:a="http://schemas.openxmlformats.org/drawingml/2006/main">
              <a:ext uri="{FF2B5EF4-FFF2-40B4-BE49-F238E27FC236}">
                <a16:creationId xmlns:a16="http://schemas.microsoft.com/office/drawing/2014/main" id="{AC292902-8797-4BE0-ADD7-E77D6E87EF08}"/>
              </a:ext>
            </a:extLst>
          </p:cNvPr>
          <p:cNvSpPr>
            <a:spLocks xmlns:a="http://schemas.openxmlformats.org/drawingml/2006/main" noGrp="1"/>
          </p:cNvSpPr>
          <p:nvPr/>
        </p:nvSpPr>
        <p:spPr>
          <a:xfrm xmlns:a="http://schemas.openxmlformats.org/drawingml/2006/main">
            <a:off x="6619875" y="2590800"/>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Manual checks to identify active,</a:t>
            </a:r>
          </a:p>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completed or failed runs.</a:t>
            </a:r>
          </a:p>
        </p:txBody>
      </p:sp>
      <p:sp>
        <p:nvSpPr>
          <p:cNvPr id="8" name="Turnaround time">
            <a:extLst xmlns:a="http://schemas.openxmlformats.org/drawingml/2006/main">
              <a:ext uri="{FF2B5EF4-FFF2-40B4-BE49-F238E27FC236}">
                <a16:creationId xmlns:a16="http://schemas.microsoft.com/office/drawing/2014/main" id="{B4807108-6BD1-49E7-A223-46AB362BED3C}"/>
              </a:ext>
            </a:extLst>
          </p:cNvPr>
          <p:cNvSpPr>
            <a:spLocks xmlns:a="http://schemas.openxmlformats.org/drawingml/2006/main" noGrp="1"/>
          </p:cNvSpPr>
          <p:nvPr/>
        </p:nvSpPr>
        <p:spPr>
          <a:xfrm xmlns:a="http://schemas.openxmlformats.org/drawingml/2006/main">
            <a:off x="6619875" y="34480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7F88"/>
                </a:solidFill>
                <a:latin typeface="Segoe UI"/>
                <a:ea typeface="Segoe UI"/>
                <a:cs typeface="Segoe UI"/>
              </a:defRPr>
            </a:pPr>
            <a:r>
              <a:rPr sz="2100" b="1">
                <a:solidFill>
                  <a:srgbClr val="007F88"/>
                </a:solidFill>
                <a:latin typeface="Segoe UI"/>
                <a:ea typeface="Segoe UI"/>
                <a:cs typeface="Segoe UI"/>
              </a:rPr>
              <a:t>Turnaround time</a:t>
            </a:r>
          </a:p>
        </p:txBody>
      </p:sp>
      <p:sp>
        <p:nvSpPr>
          <p:cNvPr id="9" name="Repeated checks to piece together">
            <a:extLst xmlns:a="http://schemas.openxmlformats.org/drawingml/2006/main">
              <a:ext uri="{FF2B5EF4-FFF2-40B4-BE49-F238E27FC236}">
                <a16:creationId xmlns:a16="http://schemas.microsoft.com/office/drawing/2014/main" id="{3AD12B11-31FE-48CC-962B-7AA626C9C4AC}"/>
              </a:ext>
            </a:extLst>
          </p:cNvPr>
          <p:cNvSpPr>
            <a:spLocks xmlns:a="http://schemas.openxmlformats.org/drawingml/2006/main" noGrp="1"/>
          </p:cNvSpPr>
          <p:nvPr/>
        </p:nvSpPr>
        <p:spPr>
          <a:xfrm xmlns:a="http://schemas.openxmlformats.org/drawingml/2006/main">
            <a:off x="6619875" y="3914775"/>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Repeated checks to piece together</a:t>
            </a:r>
          </a:p>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stage timing and completion.</a:t>
            </a:r>
          </a:p>
        </p:txBody>
      </p:sp>
      <p:sp>
        <p:nvSpPr>
          <p:cNvPr id="10" name="Baseline comparison">
            <a:extLst xmlns:a="http://schemas.openxmlformats.org/drawingml/2006/main">
              <a:ext uri="{FF2B5EF4-FFF2-40B4-BE49-F238E27FC236}">
                <a16:creationId xmlns:a16="http://schemas.microsoft.com/office/drawing/2014/main" id="{61821D29-828B-4B22-A12D-FFAF9A771022}"/>
              </a:ext>
            </a:extLst>
          </p:cNvPr>
          <p:cNvSpPr>
            <a:spLocks xmlns:a="http://schemas.openxmlformats.org/drawingml/2006/main" noGrp="1"/>
          </p:cNvSpPr>
          <p:nvPr/>
        </p:nvSpPr>
        <p:spPr>
          <a:xfrm xmlns:a="http://schemas.openxmlformats.org/drawingml/2006/main">
            <a:off x="6619875" y="47720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7F88"/>
                </a:solidFill>
                <a:latin typeface="Segoe UI"/>
                <a:ea typeface="Segoe UI"/>
                <a:cs typeface="Segoe UI"/>
              </a:defRPr>
            </a:pPr>
            <a:r>
              <a:rPr sz="2100" b="1">
                <a:solidFill>
                  <a:srgbClr val="007F88"/>
                </a:solidFill>
                <a:latin typeface="Segoe UI"/>
                <a:ea typeface="Segoe UI"/>
                <a:cs typeface="Segoe UI"/>
              </a:rPr>
              <a:t>Baseline comparison</a:t>
            </a:r>
          </a:p>
        </p:txBody>
      </p:sp>
      <p:sp>
        <p:nvSpPr>
          <p:cNvPr id="11" name="Report collection before comparing">
            <a:extLst xmlns:a="http://schemas.openxmlformats.org/drawingml/2006/main">
              <a:ext uri="{FF2B5EF4-FFF2-40B4-BE49-F238E27FC236}">
                <a16:creationId xmlns:a16="http://schemas.microsoft.com/office/drawing/2014/main" id="{659FF249-A341-4707-86C8-277AC152D321}"/>
              </a:ext>
            </a:extLst>
          </p:cNvPr>
          <p:cNvSpPr>
            <a:spLocks xmlns:a="http://schemas.openxmlformats.org/drawingml/2006/main" noGrp="1"/>
          </p:cNvSpPr>
          <p:nvPr/>
        </p:nvSpPr>
        <p:spPr>
          <a:xfrm xmlns:a="http://schemas.openxmlformats.org/drawingml/2006/main">
            <a:off x="6619875" y="5238750"/>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Report collection before comparing</a:t>
            </a:r>
          </a:p>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RTL releases and run alternatives.</a:t>
            </a:r>
          </a:p>
        </p:txBody>
      </p:sp>
    </p:spTree>
    <p:extLst>
      <p:ext uri="{BB962C8B-B14F-4D97-AF65-F5344CB8AC3E}">
        <p14:creationId xmlns:p14="http://schemas.microsoft.com/office/powerpoint/2010/main" val="551695268"/>
      </p:ext>
    </p:extLst>
  </p:cSld>
</p:sld>
</file>

<file path=ppt/slides/slide3.xml><?xml version="1.0" encoding="utf-8"?>
<p:sld xmlns:p="http://schemas.openxmlformats.org/presentationml/2006/main">
  <p:cSld>
    <p:bg>
      <p:bgPr>
        <a:solidFill xmlns:a="http://schemas.openxmlformats.org/drawingml/2006/main">
          <a:srgbClr val="08151F"/>
        </a:solidFill>
      </p:bgPr>
    </p:bg>
    <p:spTree>
      <p:nvGrpSpPr>
        <p:cNvPr id="1" name=""/>
        <p:cNvGrpSpPr/>
        <p:nvPr/>
      </p:nvGrpSpPr>
      <p:grpSpPr>
        <a:xfrm xmlns:a="http://schemas.openxmlformats.org/drawingml/2006/main"/>
      </p:grpSpPr>
      <p:sp>
        <p:nvSpPr>
          <p:cNvPr id="17" name="HOW IT WORKS">
            <a:extLst xmlns:a="http://schemas.openxmlformats.org/drawingml/2006/main">
              <a:ext uri="{FF2B5EF4-FFF2-40B4-BE49-F238E27FC236}">
                <a16:creationId xmlns:a16="http://schemas.microsoft.com/office/drawing/2014/main" id="{A5C019C8-0203-452A-A0C9-C25F2F29967C}"/>
              </a:ext>
            </a:extLst>
          </p:cNvPr>
          <p:cNvSpPr>
            <a:spLocks xmlns:a="http://schemas.openxmlformats.org/drawingml/2006/main" noGrp="1"/>
          </p:cNvSpPr>
          <p:nvPr/>
        </p:nvSpPr>
        <p:spPr>
          <a:xfrm xmlns:a="http://schemas.openxmlformats.org/drawingml/2006/main">
            <a:off x="685800" y="4667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70DDD6"/>
                </a:solidFill>
                <a:latin typeface="Segoe UI"/>
                <a:ea typeface="Segoe UI"/>
                <a:cs typeface="Segoe UI"/>
              </a:defRPr>
            </a:pPr>
            <a:r>
              <a:rPr sz="1350" b="1">
                <a:solidFill>
                  <a:srgbClr val="70DDD6"/>
                </a:solidFill>
                <a:latin typeface="Segoe UI"/>
                <a:ea typeface="Segoe UI"/>
                <a:cs typeface="Segoe UI"/>
              </a:rPr>
              <a:t>HOW IT WORKS</a:t>
            </a:r>
          </a:p>
        </p:txBody>
      </p:sp>
      <p:sp>
        <p:nvSpPr>
          <p:cNvPr id="2" name="03">
            <a:extLst xmlns:a="http://schemas.openxmlformats.org/drawingml/2006/main">
              <a:ext uri="{FF2B5EF4-FFF2-40B4-BE49-F238E27FC236}">
                <a16:creationId xmlns:a16="http://schemas.microsoft.com/office/drawing/2014/main" id="{AA942902-5853-487D-A2A5-DB590F38A773}"/>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BCAD0"/>
                </a:solidFill>
                <a:latin typeface="Segoe UI"/>
                <a:ea typeface="Segoe UI"/>
                <a:cs typeface="Segoe UI"/>
              </a:defRPr>
            </a:pPr>
            <a:r>
              <a:rPr sz="1275" b="0">
                <a:solidFill>
                  <a:srgbClr val="BBCAD0"/>
                </a:solidFill>
                <a:latin typeface="Segoe UI"/>
                <a:ea typeface="Segoe UI"/>
                <a:cs typeface="Segoe UI"/>
              </a:rPr>
              <a:t>03</a:t>
            </a:r>
          </a:p>
        </p:txBody>
      </p:sp>
      <p:sp>
        <p:nvSpPr>
          <p:cNvPr id="3" name="Existing run outputs become a connected view">
            <a:extLst xmlns:a="http://schemas.openxmlformats.org/drawingml/2006/main">
              <a:ext uri="{FF2B5EF4-FFF2-40B4-BE49-F238E27FC236}">
                <a16:creationId xmlns:a16="http://schemas.microsoft.com/office/drawing/2014/main" id="{26E0E5E7-6C3E-45EE-B4E8-55905A65C5A0}"/>
              </a:ext>
            </a:extLst>
          </p:cNvPr>
          <p:cNvSpPr>
            <a:spLocks xmlns:a="http://schemas.openxmlformats.org/drawingml/2006/main" noGrp="1"/>
          </p:cNvSpPr>
          <p:nvPr/>
        </p:nvSpPr>
        <p:spPr>
          <a:xfrm xmlns:a="http://schemas.openxmlformats.org/drawingml/2006/main">
            <a:off x="657225" y="106680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Segoe UI"/>
                <a:ea typeface="Segoe UI"/>
                <a:cs typeface="Segoe UI"/>
              </a:defRPr>
            </a:pPr>
            <a:r>
              <a:rPr sz="3450" b="1">
                <a:solidFill>
                  <a:srgbClr val="FFFFFF"/>
                </a:solidFill>
                <a:latin typeface="Segoe UI"/>
                <a:ea typeface="Segoe UI"/>
                <a:cs typeface="Segoe UI"/>
              </a:rPr>
              <a:t>Existing run outputs become a connected view</a:t>
            </a:r>
          </a:p>
        </p:txBody>
      </p:sp>
      <p:sp>
        <p:nvSpPr>
          <p:cNvPr id="4" name="01">
            <a:extLst xmlns:a="http://schemas.openxmlformats.org/drawingml/2006/main">
              <a:ext uri="{FF2B5EF4-FFF2-40B4-BE49-F238E27FC236}">
                <a16:creationId xmlns:a16="http://schemas.microsoft.com/office/drawing/2014/main" id="{44A7BE7E-9753-4349-80E8-4891D85D8F34}"/>
              </a:ext>
            </a:extLst>
          </p:cNvPr>
          <p:cNvSpPr>
            <a:spLocks xmlns:a="http://schemas.openxmlformats.org/drawingml/2006/main" noGrp="1"/>
          </p:cNvSpPr>
          <p:nvPr/>
        </p:nvSpPr>
        <p:spPr>
          <a:xfrm xmlns:a="http://schemas.openxmlformats.org/drawingml/2006/main">
            <a:off x="695325"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01</a:t>
            </a:r>
          </a:p>
        </p:txBody>
      </p:sp>
      <p:sp>
        <p:nvSpPr>
          <p:cNvPr id="5" name="Discover">
            <a:extLst xmlns:a="http://schemas.openxmlformats.org/drawingml/2006/main">
              <a:ext uri="{FF2B5EF4-FFF2-40B4-BE49-F238E27FC236}">
                <a16:creationId xmlns:a16="http://schemas.microsoft.com/office/drawing/2014/main" id="{5828CDA1-55B6-44AB-B231-A1999D843100}"/>
              </a:ext>
            </a:extLst>
          </p:cNvPr>
          <p:cNvSpPr>
            <a:spLocks xmlns:a="http://schemas.openxmlformats.org/drawingml/2006/main" noGrp="1"/>
          </p:cNvSpPr>
          <p:nvPr/>
        </p:nvSpPr>
        <p:spPr>
          <a:xfrm xmlns:a="http://schemas.openxmlformats.org/drawingml/2006/main">
            <a:off x="695325"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0DDD6"/>
                </a:solidFill>
                <a:latin typeface="Segoe UI"/>
                <a:ea typeface="Segoe UI"/>
                <a:cs typeface="Segoe UI"/>
              </a:defRPr>
            </a:pPr>
            <a:r>
              <a:rPr sz="2550" b="1">
                <a:solidFill>
                  <a:srgbClr val="70DDD6"/>
                </a:solidFill>
                <a:latin typeface="Segoe UI"/>
                <a:ea typeface="Segoe UI"/>
                <a:cs typeface="Segoe UI"/>
              </a:rPr>
              <a:t>Discover</a:t>
            </a:r>
          </a:p>
        </p:txBody>
      </p:sp>
      <p:sp>
        <p:nvSpPr>
          <p:cNvPr id="6" name="Scan workspace and">
            <a:extLst xmlns:a="http://schemas.openxmlformats.org/drawingml/2006/main">
              <a:ext uri="{FF2B5EF4-FFF2-40B4-BE49-F238E27FC236}">
                <a16:creationId xmlns:a16="http://schemas.microsoft.com/office/drawing/2014/main" id="{372DD855-1544-4149-9D47-C9EBFB2B12BC}"/>
              </a:ext>
            </a:extLst>
          </p:cNvPr>
          <p:cNvSpPr>
            <a:spLocks xmlns:a="http://schemas.openxmlformats.org/drawingml/2006/main" noGrp="1"/>
          </p:cNvSpPr>
          <p:nvPr/>
        </p:nvSpPr>
        <p:spPr>
          <a:xfrm xmlns:a="http://schemas.openxmlformats.org/drawingml/2006/main">
            <a:off x="695325"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Scan workspace and</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published OUTFEED</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run directories.</a:t>
            </a:r>
          </a:p>
        </p:txBody>
      </p:sp>
      <p:sp>
        <p:nvSpPr>
          <p:cNvPr id="7" name="02">
            <a:extLst xmlns:a="http://schemas.openxmlformats.org/drawingml/2006/main">
              <a:ext uri="{FF2B5EF4-FFF2-40B4-BE49-F238E27FC236}">
                <a16:creationId xmlns:a16="http://schemas.microsoft.com/office/drawing/2014/main" id="{4DEB7F97-07F6-425A-AF5A-785CBA92756C}"/>
              </a:ext>
            </a:extLst>
          </p:cNvPr>
          <p:cNvSpPr>
            <a:spLocks xmlns:a="http://schemas.openxmlformats.org/drawingml/2006/main" noGrp="1"/>
          </p:cNvSpPr>
          <p:nvPr/>
        </p:nvSpPr>
        <p:spPr>
          <a:xfrm xmlns:a="http://schemas.openxmlformats.org/drawingml/2006/main">
            <a:off x="3543300"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02</a:t>
            </a:r>
          </a:p>
        </p:txBody>
      </p:sp>
      <p:sp>
        <p:nvSpPr>
          <p:cNvPr id="8" name="Connect">
            <a:extLst xmlns:a="http://schemas.openxmlformats.org/drawingml/2006/main">
              <a:ext uri="{FF2B5EF4-FFF2-40B4-BE49-F238E27FC236}">
                <a16:creationId xmlns:a16="http://schemas.microsoft.com/office/drawing/2014/main" id="{D050CBB9-7A1D-41C6-AC78-219ACA5E0B83}"/>
              </a:ext>
            </a:extLst>
          </p:cNvPr>
          <p:cNvSpPr>
            <a:spLocks xmlns:a="http://schemas.openxmlformats.org/drawingml/2006/main" noGrp="1"/>
          </p:cNvSpPr>
          <p:nvPr/>
        </p:nvSpPr>
        <p:spPr>
          <a:xfrm xmlns:a="http://schemas.openxmlformats.org/drawingml/2006/main">
            <a:off x="3543300"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0DDD6"/>
                </a:solidFill>
                <a:latin typeface="Segoe UI"/>
                <a:ea typeface="Segoe UI"/>
                <a:cs typeface="Segoe UI"/>
              </a:defRPr>
            </a:pPr>
            <a:r>
              <a:rPr sz="2550" b="1">
                <a:solidFill>
                  <a:srgbClr val="70DDD6"/>
                </a:solidFill>
                <a:latin typeface="Segoe UI"/>
                <a:ea typeface="Segoe UI"/>
                <a:cs typeface="Segoe UI"/>
              </a:rPr>
              <a:t>Connect</a:t>
            </a:r>
          </a:p>
        </p:txBody>
      </p:sp>
      <p:sp>
        <p:nvSpPr>
          <p:cNvPr id="9" name="Group RTL releases">
            <a:extLst xmlns:a="http://schemas.openxmlformats.org/drawingml/2006/main">
              <a:ext uri="{FF2B5EF4-FFF2-40B4-BE49-F238E27FC236}">
                <a16:creationId xmlns:a16="http://schemas.microsoft.com/office/drawing/2014/main" id="{915778FE-4DA2-4169-8897-87714497CD49}"/>
              </a:ext>
            </a:extLst>
          </p:cNvPr>
          <p:cNvSpPr>
            <a:spLocks xmlns:a="http://schemas.openxmlformats.org/drawingml/2006/main" noGrp="1"/>
          </p:cNvSpPr>
          <p:nvPr/>
        </p:nvSpPr>
        <p:spPr>
          <a:xfrm xmlns:a="http://schemas.openxmlformats.org/drawingml/2006/main">
            <a:off x="3543300"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Group RTL releases</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and blocks, then link</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FE runs to BE stages.</a:t>
            </a:r>
          </a:p>
        </p:txBody>
      </p:sp>
      <p:sp>
        <p:nvSpPr>
          <p:cNvPr id="10" name="03">
            <a:extLst xmlns:a="http://schemas.openxmlformats.org/drawingml/2006/main">
              <a:ext uri="{FF2B5EF4-FFF2-40B4-BE49-F238E27FC236}">
                <a16:creationId xmlns:a16="http://schemas.microsoft.com/office/drawing/2014/main" id="{8E632F5F-E10A-4645-A8FA-0B1E80D6999E}"/>
              </a:ext>
            </a:extLst>
          </p:cNvPr>
          <p:cNvSpPr>
            <a:spLocks xmlns:a="http://schemas.openxmlformats.org/drawingml/2006/main" noGrp="1"/>
          </p:cNvSpPr>
          <p:nvPr/>
        </p:nvSpPr>
        <p:spPr>
          <a:xfrm xmlns:a="http://schemas.openxmlformats.org/drawingml/2006/main">
            <a:off x="6391275"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03</a:t>
            </a:r>
          </a:p>
        </p:txBody>
      </p:sp>
      <p:sp>
        <p:nvSpPr>
          <p:cNvPr id="11" name="Track">
            <a:extLst xmlns:a="http://schemas.openxmlformats.org/drawingml/2006/main">
              <a:ext uri="{FF2B5EF4-FFF2-40B4-BE49-F238E27FC236}">
                <a16:creationId xmlns:a16="http://schemas.microsoft.com/office/drawing/2014/main" id="{00EC65D9-2C2B-4F24-9655-C56F77033352}"/>
              </a:ext>
            </a:extLst>
          </p:cNvPr>
          <p:cNvSpPr>
            <a:spLocks xmlns:a="http://schemas.openxmlformats.org/drawingml/2006/main" noGrp="1"/>
          </p:cNvSpPr>
          <p:nvPr/>
        </p:nvSpPr>
        <p:spPr>
          <a:xfrm xmlns:a="http://schemas.openxmlformats.org/drawingml/2006/main">
            <a:off x="6391275"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0DDD6"/>
                </a:solidFill>
                <a:latin typeface="Segoe UI"/>
                <a:ea typeface="Segoe UI"/>
                <a:cs typeface="Segoe UI"/>
              </a:defRPr>
            </a:pPr>
            <a:r>
              <a:rPr sz="2550" b="1">
                <a:solidFill>
                  <a:srgbClr val="70DDD6"/>
                </a:solidFill>
                <a:latin typeface="Segoe UI"/>
                <a:ea typeface="Segoe UI"/>
                <a:cs typeface="Segoe UI"/>
              </a:rPr>
              <a:t>Track</a:t>
            </a:r>
          </a:p>
        </p:txBody>
      </p:sp>
      <p:sp>
        <p:nvSpPr>
          <p:cNvPr id="12" name="Read run status,">
            <a:extLst xmlns:a="http://schemas.openxmlformats.org/drawingml/2006/main">
              <a:ext uri="{FF2B5EF4-FFF2-40B4-BE49-F238E27FC236}">
                <a16:creationId xmlns:a16="http://schemas.microsoft.com/office/drawing/2014/main" id="{76E0776F-EEA6-4AEA-A0E6-F4466CD54F26}"/>
              </a:ext>
            </a:extLst>
          </p:cNvPr>
          <p:cNvSpPr>
            <a:spLocks xmlns:a="http://schemas.openxmlformats.org/drawingml/2006/main" noGrp="1"/>
          </p:cNvSpPr>
          <p:nvPr/>
        </p:nvSpPr>
        <p:spPr>
          <a:xfrm xmlns:a="http://schemas.openxmlformats.org/drawingml/2006/main">
            <a:off x="6391275"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Read run status,</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start/end timestamps</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and stage runtime.</a:t>
            </a:r>
          </a:p>
        </p:txBody>
      </p:sp>
      <p:sp>
        <p:nvSpPr>
          <p:cNvPr id="13" name="04">
            <a:extLst xmlns:a="http://schemas.openxmlformats.org/drawingml/2006/main">
              <a:ext uri="{FF2B5EF4-FFF2-40B4-BE49-F238E27FC236}">
                <a16:creationId xmlns:a16="http://schemas.microsoft.com/office/drawing/2014/main" id="{0AB0DBE2-7091-4ED0-AD86-844519B6EC95}"/>
              </a:ext>
            </a:extLst>
          </p:cNvPr>
          <p:cNvSpPr>
            <a:spLocks xmlns:a="http://schemas.openxmlformats.org/drawingml/2006/main" noGrp="1"/>
          </p:cNvSpPr>
          <p:nvPr/>
        </p:nvSpPr>
        <p:spPr>
          <a:xfrm xmlns:a="http://schemas.openxmlformats.org/drawingml/2006/main">
            <a:off x="9239250"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04</a:t>
            </a:r>
          </a:p>
        </p:txBody>
      </p:sp>
      <p:sp>
        <p:nvSpPr>
          <p:cNvPr id="14" name="Compare">
            <a:extLst xmlns:a="http://schemas.openxmlformats.org/drawingml/2006/main">
              <a:ext uri="{FF2B5EF4-FFF2-40B4-BE49-F238E27FC236}">
                <a16:creationId xmlns:a16="http://schemas.microsoft.com/office/drawing/2014/main" id="{300707C5-C14B-42CE-A946-82AD07A10A16}"/>
              </a:ext>
            </a:extLst>
          </p:cNvPr>
          <p:cNvSpPr>
            <a:spLocks xmlns:a="http://schemas.openxmlformats.org/drawingml/2006/main" noGrp="1"/>
          </p:cNvSpPr>
          <p:nvPr/>
        </p:nvSpPr>
        <p:spPr>
          <a:xfrm xmlns:a="http://schemas.openxmlformats.org/drawingml/2006/main">
            <a:off x="9239250"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0DDD6"/>
                </a:solidFill>
                <a:latin typeface="Segoe UI"/>
                <a:ea typeface="Segoe UI"/>
                <a:cs typeface="Segoe UI"/>
              </a:defRPr>
            </a:pPr>
            <a:r>
              <a:rPr sz="2550" b="1">
                <a:solidFill>
                  <a:srgbClr val="70DDD6"/>
                </a:solidFill>
                <a:latin typeface="Segoe UI"/>
                <a:ea typeface="Segoe UI"/>
                <a:cs typeface="Segoe UI"/>
              </a:rPr>
              <a:t>Compare</a:t>
            </a:r>
          </a:p>
        </p:txBody>
      </p:sp>
      <p:sp>
        <p:nvSpPr>
          <p:cNvPr id="15" name="Review selected runs,">
            <a:extLst xmlns:a="http://schemas.openxmlformats.org/drawingml/2006/main">
              <a:ext uri="{FF2B5EF4-FFF2-40B4-BE49-F238E27FC236}">
                <a16:creationId xmlns:a16="http://schemas.microsoft.com/office/drawing/2014/main" id="{6494645C-DDCE-438B-B5AB-E18464B78009}"/>
              </a:ext>
            </a:extLst>
          </p:cNvPr>
          <p:cNvSpPr>
            <a:spLocks xmlns:a="http://schemas.openxmlformats.org/drawingml/2006/main" noGrp="1"/>
          </p:cNvSpPr>
          <p:nvPr/>
        </p:nvSpPr>
        <p:spPr>
          <a:xfrm xmlns:a="http://schemas.openxmlformats.org/drawingml/2006/main">
            <a:off x="9239250"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Review selected runs,</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run-over-run changes</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and golden baselines.</a:t>
            </a:r>
          </a:p>
        </p:txBody>
      </p:sp>
      <p:sp>
        <p:nvSpPr>
          <p:cNvPr id="16" name="One hierarchy preserves the connection between a synthe">
            <a:extLst xmlns:a="http://schemas.openxmlformats.org/drawingml/2006/main">
              <a:ext uri="{FF2B5EF4-FFF2-40B4-BE49-F238E27FC236}">
                <a16:creationId xmlns:a16="http://schemas.microsoft.com/office/drawing/2014/main" id="{5A609815-A5EB-44A8-99EA-0F3FEBA78FA3}"/>
              </a:ext>
            </a:extLst>
          </p:cNvPr>
          <p:cNvSpPr>
            <a:spLocks xmlns:a="http://schemas.openxmlformats.org/drawingml/2006/main" noGrp="1"/>
          </p:cNvSpPr>
          <p:nvPr/>
        </p:nvSpPr>
        <p:spPr>
          <a:xfrm xmlns:a="http://schemas.openxmlformats.org/drawingml/2006/main">
            <a:off x="704850" y="572452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BCAD0"/>
                </a:solidFill>
                <a:latin typeface="Segoe UI"/>
                <a:ea typeface="Segoe UI"/>
                <a:cs typeface="Segoe UI"/>
              </a:defRPr>
            </a:pPr>
            <a:r>
              <a:rPr sz="1875" b="0">
                <a:solidFill>
                  <a:srgbClr val="BBCAD0"/>
                </a:solidFill>
                <a:latin typeface="Segoe UI"/>
                <a:ea typeface="Segoe UI"/>
                <a:cs typeface="Segoe UI"/>
              </a:rPr>
              <a:t>One hierarchy preserves the connection between a synthesis run and its PNR stages</a:t>
            </a:r>
          </a:p>
        </p:txBody>
      </p:sp>
    </p:spTree>
    <p:extLst>
      <p:ext uri="{BB962C8B-B14F-4D97-AF65-F5344CB8AC3E}">
        <p14:creationId xmlns:p14="http://schemas.microsoft.com/office/powerpoint/2010/main" val="2055211728"/>
      </p:ext>
    </p:extLst>
  </p:cSld>
</p:sld>
</file>

<file path=ppt/slides/slide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37" name="HIERARCHY AND FEATURES">
            <a:extLst xmlns:a="http://schemas.openxmlformats.org/drawingml/2006/main">
              <a:ext uri="{FF2B5EF4-FFF2-40B4-BE49-F238E27FC236}">
                <a16:creationId xmlns:a16="http://schemas.microsoft.com/office/drawing/2014/main" id="{548CAAE7-D605-45C9-A56B-EF73B060B3AC}"/>
              </a:ext>
            </a:extLst>
          </p:cNvPr>
          <p:cNvSpPr>
            <a:spLocks xmlns:a="http://schemas.openxmlformats.org/drawingml/2006/main" noGrp="1"/>
          </p:cNvSpPr>
          <p:nvPr/>
        </p:nvSpPr>
        <p:spPr>
          <a:xfrm xmlns:a="http://schemas.openxmlformats.org/drawingml/2006/main">
            <a:off x="685800" y="466725"/>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88"/>
                </a:solidFill>
                <a:latin typeface="Segoe UI"/>
                <a:ea typeface="Segoe UI"/>
                <a:cs typeface="Segoe UI"/>
              </a:defRPr>
            </a:pPr>
            <a:r>
              <a:rPr sz="1350" b="1">
                <a:solidFill>
                  <a:srgbClr val="007F88"/>
                </a:solidFill>
                <a:latin typeface="Segoe UI"/>
                <a:ea typeface="Segoe UI"/>
                <a:cs typeface="Segoe UI"/>
              </a:rPr>
              <a:t>HIERARCHY AND FEATURES</a:t>
            </a:r>
          </a:p>
        </p:txBody>
      </p:sp>
      <p:sp>
        <p:nvSpPr>
          <p:cNvPr id="2" name="Run hierarchy and review tools">
            <a:extLst xmlns:a="http://schemas.openxmlformats.org/drawingml/2006/main">
              <a:ext uri="{FF2B5EF4-FFF2-40B4-BE49-F238E27FC236}">
                <a16:creationId xmlns:a16="http://schemas.microsoft.com/office/drawing/2014/main" id="{65F80E31-C600-410D-98D2-D36016CCA064}"/>
              </a:ext>
            </a:extLst>
          </p:cNvPr>
          <p:cNvSpPr>
            <a:spLocks xmlns:a="http://schemas.openxmlformats.org/drawingml/2006/main" noGrp="1"/>
          </p:cNvSpPr>
          <p:nvPr/>
        </p:nvSpPr>
        <p:spPr>
          <a:xfrm xmlns:a="http://schemas.openxmlformats.org/drawingml/2006/main">
            <a:off x="666750" y="1028700"/>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2A36"/>
                </a:solidFill>
                <a:latin typeface="Segoe UI"/>
                <a:ea typeface="Segoe UI"/>
                <a:cs typeface="Segoe UI"/>
              </a:defRPr>
            </a:pPr>
            <a:r>
              <a:rPr sz="3600" b="1">
                <a:solidFill>
                  <a:srgbClr val="102A36"/>
                </a:solidFill>
                <a:latin typeface="Segoe UI"/>
                <a:ea typeface="Segoe UI"/>
                <a:cs typeface="Segoe UI"/>
              </a:rPr>
              <a:t>Run hierarchy and review tools</a:t>
            </a:r>
          </a:p>
        </p:txBody>
      </p:sp>
      <p:sp>
        <p:nvSpPr>
          <p:cNvPr id="3" name="Release and block context">
            <a:extLst xmlns:a="http://schemas.openxmlformats.org/drawingml/2006/main">
              <a:ext uri="{FF2B5EF4-FFF2-40B4-BE49-F238E27FC236}">
                <a16:creationId xmlns:a16="http://schemas.microsoft.com/office/drawing/2014/main" id="{A5436FE5-1B0B-44E5-B6E4-77E73DA06B24}"/>
              </a:ext>
            </a:extLst>
          </p:cNvPr>
          <p:cNvSpPr>
            <a:spLocks xmlns:a="http://schemas.openxmlformats.org/drawingml/2006/main" noGrp="1"/>
          </p:cNvSpPr>
          <p:nvPr/>
        </p:nvSpPr>
        <p:spPr>
          <a:xfrm xmlns:a="http://schemas.openxmlformats.org/drawingml/2006/main">
            <a:off x="714375" y="173355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46C"/>
                </a:solidFill>
                <a:latin typeface="Segoe UI"/>
                <a:ea typeface="Segoe UI"/>
                <a:cs typeface="Segoe UI"/>
              </a:defRPr>
            </a:pPr>
            <a:r>
              <a:rPr sz="1500" b="0">
                <a:solidFill>
                  <a:srgbClr val="52646C"/>
                </a:solidFill>
                <a:latin typeface="Segoe UI"/>
                <a:ea typeface="Segoe UI"/>
                <a:cs typeface="Segoe UI"/>
              </a:rPr>
              <a:t>Release and block context</a:t>
            </a:r>
          </a:p>
        </p:txBody>
      </p:sp>
      <p:sp>
        <p:nvSpPr>
          <p:cNvPr id="4" name="PNR steps (example)">
            <a:extLst xmlns:a="http://schemas.openxmlformats.org/drawingml/2006/main">
              <a:ext uri="{FF2B5EF4-FFF2-40B4-BE49-F238E27FC236}">
                <a16:creationId xmlns:a16="http://schemas.microsoft.com/office/drawing/2014/main" id="{C69AC1CB-8F5F-474B-A5BE-A01E3683D0F8}"/>
              </a:ext>
            </a:extLst>
          </p:cNvPr>
          <p:cNvSpPr>
            <a:spLocks xmlns:a="http://schemas.openxmlformats.org/drawingml/2006/main" noGrp="1"/>
          </p:cNvSpPr>
          <p:nvPr/>
        </p:nvSpPr>
        <p:spPr>
          <a:xfrm xmlns:a="http://schemas.openxmlformats.org/drawingml/2006/main">
            <a:off x="8610600" y="1657350"/>
            <a:ext cx="289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07F88"/>
                </a:solidFill>
                <a:latin typeface="Segoe UI"/>
                <a:ea typeface="Segoe UI"/>
                <a:cs typeface="Segoe UI"/>
              </a:defRPr>
            </a:pPr>
            <a:r>
              <a:rPr sz="1500" b="1">
                <a:solidFill>
                  <a:srgbClr val="007F88"/>
                </a:solidFill>
                <a:latin typeface="Segoe UI"/>
                <a:ea typeface="Segoe UI"/>
                <a:cs typeface="Segoe UI"/>
              </a:rPr>
              <a:t>PNR steps (example)</a:t>
            </a:r>
          </a:p>
        </p:txBody>
      </p:sp>
      <p:sp>
        <p:nvSpPr>
          <p:cNvPr id="5" name="FE run (parent)">
            <a:extLst xmlns:a="http://schemas.openxmlformats.org/drawingml/2006/main">
              <a:ext uri="{FF2B5EF4-FFF2-40B4-BE49-F238E27FC236}">
                <a16:creationId xmlns:a16="http://schemas.microsoft.com/office/drawing/2014/main" id="{AFE1F600-A4B3-4740-A9BE-424F8E9174EB}"/>
              </a:ext>
            </a:extLst>
          </p:cNvPr>
          <p:cNvSpPr>
            <a:spLocks xmlns:a="http://schemas.openxmlformats.org/drawingml/2006/main" noGrp="1"/>
          </p:cNvSpPr>
          <p:nvPr/>
        </p:nvSpPr>
        <p:spPr>
          <a:xfrm xmlns:a="http://schemas.openxmlformats.org/drawingml/2006/main">
            <a:off x="714375" y="2181225"/>
            <a:ext cx="2190750" cy="609600"/>
          </a:xfrm>
          <a:prstGeom xmlns:a="http://schemas.openxmlformats.org/drawingml/2006/main" prst="rect">
            <a:avLst/>
          </a:prstGeom>
          <a:solidFill xmlns:a="http://schemas.openxmlformats.org/drawingml/2006/main">
            <a:srgbClr val="007F88"/>
          </a:solidFill>
          <a:ln xmlns:a="http://schemas.openxmlformats.org/drawingml/2006/main" w="9525">
            <a:solidFill>
              <a:srgbClr val="007F8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FE run (parent)</a:t>
            </a:r>
          </a:p>
        </p:txBody>
      </p:sp>
      <p:sp>
        <p:nvSpPr>
          <p:cNvPr id="6" name="BE run A">
            <a:extLst xmlns:a="http://schemas.openxmlformats.org/drawingml/2006/main">
              <a:ext uri="{FF2B5EF4-FFF2-40B4-BE49-F238E27FC236}">
                <a16:creationId xmlns:a16="http://schemas.microsoft.com/office/drawing/2014/main" id="{0E3BB030-ED6E-4C66-91DE-E07C9483F8AB}"/>
              </a:ext>
            </a:extLst>
          </p:cNvPr>
          <p:cNvSpPr>
            <a:spLocks xmlns:a="http://schemas.openxmlformats.org/drawingml/2006/main" noGrp="1"/>
          </p:cNvSpPr>
          <p:nvPr/>
        </p:nvSpPr>
        <p:spPr>
          <a:xfrm xmlns:a="http://schemas.openxmlformats.org/drawingml/2006/main">
            <a:off x="4572000" y="2114550"/>
            <a:ext cx="2095500" cy="590550"/>
          </a:xfrm>
          <a:prstGeom xmlns:a="http://schemas.openxmlformats.org/drawingml/2006/main" prst="rect">
            <a:avLst/>
          </a:prstGeom>
          <a:solidFill xmlns:a="http://schemas.openxmlformats.org/drawingml/2006/main">
            <a:srgbClr val="08151F"/>
          </a:solidFill>
          <a:ln xmlns:a="http://schemas.openxmlformats.org/drawingml/2006/main" w="9525">
            <a:solidFill>
              <a:srgbClr val="08151F"/>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BE run A</a:t>
            </a:r>
          </a:p>
        </p:txBody>
      </p:sp>
      <p:sp>
        <p:nvSpPr>
          <p:cNvPr id="7" name="BE run B">
            <a:extLst xmlns:a="http://schemas.openxmlformats.org/drawingml/2006/main">
              <a:ext uri="{FF2B5EF4-FFF2-40B4-BE49-F238E27FC236}">
                <a16:creationId xmlns:a16="http://schemas.microsoft.com/office/drawing/2014/main" id="{3DFB40C7-8D3E-45B9-96AA-97FABF9A5A2B}"/>
              </a:ext>
            </a:extLst>
          </p:cNvPr>
          <p:cNvSpPr>
            <a:spLocks xmlns:a="http://schemas.openxmlformats.org/drawingml/2006/main" noGrp="1"/>
          </p:cNvSpPr>
          <p:nvPr/>
        </p:nvSpPr>
        <p:spPr>
          <a:xfrm xmlns:a="http://schemas.openxmlformats.org/drawingml/2006/main">
            <a:off x="4572000" y="3800475"/>
            <a:ext cx="2095500" cy="590550"/>
          </a:xfrm>
          <a:prstGeom xmlns:a="http://schemas.openxmlformats.org/drawingml/2006/main" prst="rect">
            <a:avLst/>
          </a:prstGeom>
          <a:solidFill xmlns:a="http://schemas.openxmlformats.org/drawingml/2006/main">
            <a:srgbClr val="08151F"/>
          </a:solidFill>
          <a:ln xmlns:a="http://schemas.openxmlformats.org/drawingml/2006/main" w="9525">
            <a:solidFill>
              <a:srgbClr val="08151F"/>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BE run B</a:t>
            </a:r>
          </a:p>
        </p:txBody>
      </p:sp>
      <p:cxnSp>
        <p:nvCxnSpPr>
          <p:cNvPr id="44" name=""/>
          <p:cNvCxnSpPr>
            <a:stCxn xmlns:a="http://schemas.openxmlformats.org/drawingml/2006/main" id="5" idx="3"/>
            <a:endCxn xmlns:a="http://schemas.openxmlformats.org/drawingml/2006/main" id="6" idx="1"/>
          </p:cNvCxnSpPr>
          <p:nvPr/>
        </p:nvCxnSpPr>
        <p:spPr>
          <a:xfrm xmlns:a="http://schemas.openxmlformats.org/drawingml/2006/main" flipV="1">
            <a:off x="2905125" y="2409825"/>
            <a:ext cx="1666875" cy="76200"/>
          </a:xfrm>
          <a:prstGeom xmlns:a="http://schemas.openxmlformats.org/drawingml/2006/main" prst="bentConnector3">
            <a:avLst>
              <a:gd name="adj1" fmla="val 50000"/>
            </a:avLst>
          </a:prstGeom>
          <a:ln xmlns:a="http://schemas.openxmlformats.org/drawingml/2006/main" w="14288">
            <a:solidFill>
              <a:srgbClr val="76949A"/>
            </a:solidFill>
            <a:tailEnd type="arrow" w="sm" len="sm"/>
          </a:ln>
        </p:spPr>
      </p:cxnSp>
      <p:cxnSp>
        <p:nvCxnSpPr>
          <p:cNvPr id="45" name=""/>
          <p:cNvCxnSpPr>
            <a:stCxn xmlns:a="http://schemas.openxmlformats.org/drawingml/2006/main" id="5" idx="3"/>
            <a:endCxn xmlns:a="http://schemas.openxmlformats.org/drawingml/2006/main" id="7" idx="1"/>
          </p:cNvCxnSpPr>
          <p:nvPr/>
        </p:nvCxnSpPr>
        <p:spPr>
          <a:xfrm xmlns:a="http://schemas.openxmlformats.org/drawingml/2006/main">
            <a:off x="2905125" y="2486025"/>
            <a:ext cx="1666875" cy="1609725"/>
          </a:xfrm>
          <a:prstGeom xmlns:a="http://schemas.openxmlformats.org/drawingml/2006/main" prst="bentConnector3">
            <a:avLst>
              <a:gd name="adj1" fmla="val 50000"/>
            </a:avLst>
          </a:prstGeom>
          <a:ln xmlns:a="http://schemas.openxmlformats.org/drawingml/2006/main" w="14288">
            <a:solidFill>
              <a:srgbClr val="76949A"/>
            </a:solidFill>
            <a:tailEnd type="arrow" w="sm" len="sm"/>
          </a:ln>
        </p:spPr>
      </p:cxnSp>
      <p:sp>
        <p:nvSpPr>
          <p:cNvPr id="10" name="">
            <a:extLst xmlns:a="http://schemas.openxmlformats.org/drawingml/2006/main">
              <a:ext uri="{FF2B5EF4-FFF2-40B4-BE49-F238E27FC236}">
                <a16:creationId xmlns:a16="http://schemas.microsoft.com/office/drawing/2014/main" id="{EA57F067-02C8-4ACB-98A6-963A18A0A97A}"/>
              </a:ext>
            </a:extLst>
          </p:cNvPr>
          <p:cNvSpPr>
            <a:spLocks xmlns:a="http://schemas.openxmlformats.org/drawingml/2006/main" noGrp="1"/>
          </p:cNvSpPr>
          <p:nvPr/>
        </p:nvSpPr>
        <p:spPr>
          <a:xfrm xmlns:a="http://schemas.openxmlformats.org/drawingml/2006/main">
            <a:off x="1066800" y="2790825"/>
            <a:ext cx="0" cy="1647825"/>
          </a:xfrm>
          <a:prstGeom xmlns:a="http://schemas.openxmlformats.org/drawingml/2006/main" prst="line">
            <a:avLst/>
          </a:prstGeom>
          <a:noFill xmlns:a="http://schemas.openxmlformats.org/drawingml/2006/main"/>
          <a:ln xmlns:a="http://schemas.openxmlformats.org/drawingml/2006/main" w="14288">
            <a:solidFill>
              <a:srgbClr val="76949A"/>
            </a:solidFill>
          </a:ln>
        </p:spPr>
      </p:sp>
      <p:sp>
        <p:nvSpPr>
          <p:cNvPr id="11" name="">
            <a:extLst xmlns:a="http://schemas.openxmlformats.org/drawingml/2006/main">
              <a:ext uri="{FF2B5EF4-FFF2-40B4-BE49-F238E27FC236}">
                <a16:creationId xmlns:a16="http://schemas.microsoft.com/office/drawing/2014/main" id="{9E0CF993-B4A8-467E-905E-57F67CCA8592}"/>
              </a:ext>
            </a:extLst>
          </p:cNvPr>
          <p:cNvSpPr>
            <a:spLocks xmlns:a="http://schemas.openxmlformats.org/drawingml/2006/main" noGrp="1"/>
          </p:cNvSpPr>
          <p:nvPr/>
        </p:nvSpPr>
        <p:spPr>
          <a:xfrm xmlns:a="http://schemas.openxmlformats.org/drawingml/2006/main">
            <a:off x="1066800" y="3124200"/>
            <a:ext cx="228600" cy="0"/>
          </a:xfrm>
          <a:prstGeom xmlns:a="http://schemas.openxmlformats.org/drawingml/2006/main" prst="line">
            <a:avLst/>
          </a:prstGeom>
          <a:noFill xmlns:a="http://schemas.openxmlformats.org/drawingml/2006/main"/>
          <a:ln xmlns:a="http://schemas.openxmlformats.org/drawingml/2006/main" w="14288">
            <a:solidFill>
              <a:srgbClr val="76949A"/>
            </a:solidFill>
          </a:ln>
        </p:spPr>
      </p:sp>
      <p:sp>
        <p:nvSpPr>
          <p:cNvPr id="12" name="QoR reports">
            <a:extLst xmlns:a="http://schemas.openxmlformats.org/drawingml/2006/main">
              <a:ext uri="{FF2B5EF4-FFF2-40B4-BE49-F238E27FC236}">
                <a16:creationId xmlns:a16="http://schemas.microsoft.com/office/drawing/2014/main" id="{AE0536B0-CDC7-42B6-81B6-462371C3DD18}"/>
              </a:ext>
            </a:extLst>
          </p:cNvPr>
          <p:cNvSpPr>
            <a:spLocks xmlns:a="http://schemas.openxmlformats.org/drawingml/2006/main" noGrp="1"/>
          </p:cNvSpPr>
          <p:nvPr/>
        </p:nvSpPr>
        <p:spPr>
          <a:xfrm xmlns:a="http://schemas.openxmlformats.org/drawingml/2006/main">
            <a:off x="1381125" y="2952750"/>
            <a:ext cx="2076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A36"/>
                </a:solidFill>
                <a:latin typeface="Segoe UI"/>
                <a:ea typeface="Segoe UI"/>
                <a:cs typeface="Segoe UI"/>
              </a:defRPr>
            </a:pPr>
            <a:r>
              <a:rPr sz="1650" b="0">
                <a:solidFill>
                  <a:srgbClr val="102A36"/>
                </a:solidFill>
                <a:latin typeface="Segoe UI"/>
                <a:ea typeface="Segoe UI"/>
                <a:cs typeface="Segoe UI"/>
              </a:rPr>
              <a:t>QoR reports</a:t>
            </a:r>
          </a:p>
        </p:txBody>
      </p:sp>
      <p:sp>
        <p:nvSpPr>
          <p:cNvPr id="13" name="">
            <a:extLst xmlns:a="http://schemas.openxmlformats.org/drawingml/2006/main">
              <a:ext uri="{FF2B5EF4-FFF2-40B4-BE49-F238E27FC236}">
                <a16:creationId xmlns:a16="http://schemas.microsoft.com/office/drawing/2014/main" id="{5301F8CC-A425-40EE-9623-4FF178F3D94F}"/>
              </a:ext>
            </a:extLst>
          </p:cNvPr>
          <p:cNvSpPr>
            <a:spLocks xmlns:a="http://schemas.openxmlformats.org/drawingml/2006/main" noGrp="1"/>
          </p:cNvSpPr>
          <p:nvPr/>
        </p:nvSpPr>
        <p:spPr>
          <a:xfrm xmlns:a="http://schemas.openxmlformats.org/drawingml/2006/main">
            <a:off x="1066800" y="3505200"/>
            <a:ext cx="228600" cy="0"/>
          </a:xfrm>
          <a:prstGeom xmlns:a="http://schemas.openxmlformats.org/drawingml/2006/main" prst="line">
            <a:avLst/>
          </a:prstGeom>
          <a:noFill xmlns:a="http://schemas.openxmlformats.org/drawingml/2006/main"/>
          <a:ln xmlns:a="http://schemas.openxmlformats.org/drawingml/2006/main" w="14288">
            <a:solidFill>
              <a:srgbClr val="76949A"/>
            </a:solidFill>
          </a:ln>
        </p:spPr>
      </p:sp>
      <p:sp>
        <p:nvSpPr>
          <p:cNvPr id="14" name="FM checks">
            <a:extLst xmlns:a="http://schemas.openxmlformats.org/drawingml/2006/main">
              <a:ext uri="{FF2B5EF4-FFF2-40B4-BE49-F238E27FC236}">
                <a16:creationId xmlns:a16="http://schemas.microsoft.com/office/drawing/2014/main" id="{530A1595-52EE-4297-BEEC-4D1CDB9C6B3B}"/>
              </a:ext>
            </a:extLst>
          </p:cNvPr>
          <p:cNvSpPr>
            <a:spLocks xmlns:a="http://schemas.openxmlformats.org/drawingml/2006/main" noGrp="1"/>
          </p:cNvSpPr>
          <p:nvPr/>
        </p:nvSpPr>
        <p:spPr>
          <a:xfrm xmlns:a="http://schemas.openxmlformats.org/drawingml/2006/main">
            <a:off x="1381125" y="3333750"/>
            <a:ext cx="2076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A36"/>
                </a:solidFill>
                <a:latin typeface="Segoe UI"/>
                <a:ea typeface="Segoe UI"/>
                <a:cs typeface="Segoe UI"/>
              </a:defRPr>
            </a:pPr>
            <a:r>
              <a:rPr sz="1650" b="0">
                <a:solidFill>
                  <a:srgbClr val="102A36"/>
                </a:solidFill>
                <a:latin typeface="Segoe UI"/>
                <a:ea typeface="Segoe UI"/>
                <a:cs typeface="Segoe UI"/>
              </a:rPr>
              <a:t>FM checks</a:t>
            </a:r>
          </a:p>
        </p:txBody>
      </p:sp>
      <p:sp>
        <p:nvSpPr>
          <p:cNvPr id="15" name="">
            <a:extLst xmlns:a="http://schemas.openxmlformats.org/drawingml/2006/main">
              <a:ext uri="{FF2B5EF4-FFF2-40B4-BE49-F238E27FC236}">
                <a16:creationId xmlns:a16="http://schemas.microsoft.com/office/drawing/2014/main" id="{09656015-F14E-48E3-BBB5-864DC8859A4F}"/>
              </a:ext>
            </a:extLst>
          </p:cNvPr>
          <p:cNvSpPr>
            <a:spLocks xmlns:a="http://schemas.openxmlformats.org/drawingml/2006/main" noGrp="1"/>
          </p:cNvSpPr>
          <p:nvPr/>
        </p:nvSpPr>
        <p:spPr>
          <a:xfrm xmlns:a="http://schemas.openxmlformats.org/drawingml/2006/main">
            <a:off x="1066800" y="3886200"/>
            <a:ext cx="228600" cy="0"/>
          </a:xfrm>
          <a:prstGeom xmlns:a="http://schemas.openxmlformats.org/drawingml/2006/main" prst="line">
            <a:avLst/>
          </a:prstGeom>
          <a:noFill xmlns:a="http://schemas.openxmlformats.org/drawingml/2006/main"/>
          <a:ln xmlns:a="http://schemas.openxmlformats.org/drawingml/2006/main" w="14288">
            <a:solidFill>
              <a:srgbClr val="76949A"/>
            </a:solidFill>
          </a:ln>
        </p:spPr>
      </p:sp>
      <p:sp>
        <p:nvSpPr>
          <p:cNvPr id="16" name="VSLP checks">
            <a:extLst xmlns:a="http://schemas.openxmlformats.org/drawingml/2006/main">
              <a:ext uri="{FF2B5EF4-FFF2-40B4-BE49-F238E27FC236}">
                <a16:creationId xmlns:a16="http://schemas.microsoft.com/office/drawing/2014/main" id="{E4A961BB-94A1-4583-875C-9E23F877901F}"/>
              </a:ext>
            </a:extLst>
          </p:cNvPr>
          <p:cNvSpPr>
            <a:spLocks xmlns:a="http://schemas.openxmlformats.org/drawingml/2006/main" noGrp="1"/>
          </p:cNvSpPr>
          <p:nvPr/>
        </p:nvSpPr>
        <p:spPr>
          <a:xfrm xmlns:a="http://schemas.openxmlformats.org/drawingml/2006/main">
            <a:off x="1381125" y="3714750"/>
            <a:ext cx="2076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A36"/>
                </a:solidFill>
                <a:latin typeface="Segoe UI"/>
                <a:ea typeface="Segoe UI"/>
                <a:cs typeface="Segoe UI"/>
              </a:defRPr>
            </a:pPr>
            <a:r>
              <a:rPr sz="1650" b="0">
                <a:solidFill>
                  <a:srgbClr val="102A36"/>
                </a:solidFill>
                <a:latin typeface="Segoe UI"/>
                <a:ea typeface="Segoe UI"/>
                <a:cs typeface="Segoe UI"/>
              </a:rPr>
              <a:t>VSLP checks</a:t>
            </a:r>
          </a:p>
        </p:txBody>
      </p:sp>
      <p:sp>
        <p:nvSpPr>
          <p:cNvPr id="17" name="">
            <a:extLst xmlns:a="http://schemas.openxmlformats.org/drawingml/2006/main">
              <a:ext uri="{FF2B5EF4-FFF2-40B4-BE49-F238E27FC236}">
                <a16:creationId xmlns:a16="http://schemas.microsoft.com/office/drawing/2014/main" id="{1E893F9C-45D2-4161-90AD-71093F496BD4}"/>
              </a:ext>
            </a:extLst>
          </p:cNvPr>
          <p:cNvSpPr>
            <a:spLocks xmlns:a="http://schemas.openxmlformats.org/drawingml/2006/main" noGrp="1"/>
          </p:cNvSpPr>
          <p:nvPr/>
        </p:nvSpPr>
        <p:spPr>
          <a:xfrm xmlns:a="http://schemas.openxmlformats.org/drawingml/2006/main">
            <a:off x="1066800" y="4267200"/>
            <a:ext cx="228600" cy="0"/>
          </a:xfrm>
          <a:prstGeom xmlns:a="http://schemas.openxmlformats.org/drawingml/2006/main" prst="line">
            <a:avLst/>
          </a:prstGeom>
          <a:noFill xmlns:a="http://schemas.openxmlformats.org/drawingml/2006/main"/>
          <a:ln xmlns:a="http://schemas.openxmlformats.org/drawingml/2006/main" w="14288">
            <a:solidFill>
              <a:srgbClr val="76949A"/>
            </a:solidFill>
          </a:ln>
        </p:spPr>
      </p:sp>
      <p:sp>
        <p:nvSpPr>
          <p:cNvPr id="18" name="PT timing">
            <a:extLst xmlns:a="http://schemas.openxmlformats.org/drawingml/2006/main">
              <a:ext uri="{FF2B5EF4-FFF2-40B4-BE49-F238E27FC236}">
                <a16:creationId xmlns:a16="http://schemas.microsoft.com/office/drawing/2014/main" id="{B3AC4D9D-8B44-4CA6-A81C-3A00993A99F6}"/>
              </a:ext>
            </a:extLst>
          </p:cNvPr>
          <p:cNvSpPr>
            <a:spLocks xmlns:a="http://schemas.openxmlformats.org/drawingml/2006/main" noGrp="1"/>
          </p:cNvSpPr>
          <p:nvPr/>
        </p:nvSpPr>
        <p:spPr>
          <a:xfrm xmlns:a="http://schemas.openxmlformats.org/drawingml/2006/main">
            <a:off x="1381125" y="4095750"/>
            <a:ext cx="2076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A36"/>
                </a:solidFill>
                <a:latin typeface="Segoe UI"/>
                <a:ea typeface="Segoe UI"/>
                <a:cs typeface="Segoe UI"/>
              </a:defRPr>
            </a:pPr>
            <a:r>
              <a:rPr sz="1650" b="0">
                <a:solidFill>
                  <a:srgbClr val="102A36"/>
                </a:solidFill>
                <a:latin typeface="Segoe UI"/>
                <a:ea typeface="Segoe UI"/>
                <a:cs typeface="Segoe UI"/>
              </a:rPr>
              <a:t>PT timing</a:t>
            </a:r>
          </a:p>
        </p:txBody>
      </p:sp>
      <p:sp>
        <p:nvSpPr>
          <p:cNvPr id="19" name="Placement">
            <a:extLst xmlns:a="http://schemas.openxmlformats.org/drawingml/2006/main">
              <a:ext uri="{FF2B5EF4-FFF2-40B4-BE49-F238E27FC236}">
                <a16:creationId xmlns:a16="http://schemas.microsoft.com/office/drawing/2014/main" id="{A9EF620E-952A-44C8-A777-24A926C8A13D}"/>
              </a:ext>
            </a:extLst>
          </p:cNvPr>
          <p:cNvSpPr>
            <a:spLocks xmlns:a="http://schemas.openxmlformats.org/drawingml/2006/main" noGrp="1"/>
          </p:cNvSpPr>
          <p:nvPr/>
        </p:nvSpPr>
        <p:spPr>
          <a:xfrm xmlns:a="http://schemas.openxmlformats.org/drawingml/2006/main">
            <a:off x="8620125" y="2047875"/>
            <a:ext cx="28384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B8C9CB"/>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02A36"/>
                </a:solidFill>
                <a:latin typeface="Segoe UI"/>
                <a:ea typeface="Segoe UI"/>
                <a:cs typeface="Segoe UI"/>
              </a:defRPr>
            </a:pPr>
            <a:r>
              <a:rPr sz="1650" b="1">
                <a:solidFill>
                  <a:srgbClr val="102A36"/>
                </a:solidFill>
                <a:latin typeface="Segoe UI"/>
                <a:ea typeface="Segoe UI"/>
                <a:cs typeface="Segoe UI"/>
              </a:rPr>
              <a:t>Placement</a:t>
            </a:r>
          </a:p>
        </p:txBody>
      </p:sp>
      <p:cxnSp>
        <p:nvCxnSpPr>
          <p:cNvPr id="56" name=""/>
          <p:cNvCxnSpPr>
            <a:stCxn xmlns:a="http://schemas.openxmlformats.org/drawingml/2006/main" id="6" idx="3"/>
            <a:endCxn xmlns:a="http://schemas.openxmlformats.org/drawingml/2006/main" id="19" idx="1"/>
          </p:cNvCxnSpPr>
          <p:nvPr/>
        </p:nvCxnSpPr>
        <p:spPr>
          <a:xfrm xmlns:a="http://schemas.openxmlformats.org/drawingml/2006/main" flipV="1">
            <a:off x="6667500" y="2257425"/>
            <a:ext cx="1952625" cy="152400"/>
          </a:xfrm>
          <a:prstGeom xmlns:a="http://schemas.openxmlformats.org/drawingml/2006/main" prst="bentConnector3">
            <a:avLst>
              <a:gd name="adj1" fmla="val 50000"/>
            </a:avLst>
          </a:prstGeom>
          <a:ln xmlns:a="http://schemas.openxmlformats.org/drawingml/2006/main" w="14288">
            <a:solidFill>
              <a:srgbClr val="76949A"/>
            </a:solidFill>
            <a:tailEnd type="arrow" w="sm" len="sm"/>
          </a:ln>
        </p:spPr>
      </p:cxnSp>
      <p:sp>
        <p:nvSpPr>
          <p:cNvPr id="21" name="Clock tree (CTS)">
            <a:extLst xmlns:a="http://schemas.openxmlformats.org/drawingml/2006/main">
              <a:ext uri="{FF2B5EF4-FFF2-40B4-BE49-F238E27FC236}">
                <a16:creationId xmlns:a16="http://schemas.microsoft.com/office/drawing/2014/main" id="{B13EBE66-DEEF-4543-A831-A05D4EEAA317}"/>
              </a:ext>
            </a:extLst>
          </p:cNvPr>
          <p:cNvSpPr>
            <a:spLocks xmlns:a="http://schemas.openxmlformats.org/drawingml/2006/main" noGrp="1"/>
          </p:cNvSpPr>
          <p:nvPr/>
        </p:nvSpPr>
        <p:spPr>
          <a:xfrm xmlns:a="http://schemas.openxmlformats.org/drawingml/2006/main">
            <a:off x="8620125" y="2581275"/>
            <a:ext cx="28384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B8C9CB"/>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02A36"/>
                </a:solidFill>
                <a:latin typeface="Segoe UI"/>
                <a:ea typeface="Segoe UI"/>
                <a:cs typeface="Segoe UI"/>
              </a:defRPr>
            </a:pPr>
            <a:r>
              <a:rPr sz="1650" b="1">
                <a:solidFill>
                  <a:srgbClr val="102A36"/>
                </a:solidFill>
                <a:latin typeface="Segoe UI"/>
                <a:ea typeface="Segoe UI"/>
                <a:cs typeface="Segoe UI"/>
              </a:rPr>
              <a:t>Clock tree (CTS)</a:t>
            </a:r>
          </a:p>
        </p:txBody>
      </p:sp>
      <p:cxnSp>
        <p:nvCxnSpPr>
          <p:cNvPr id="58" name=""/>
          <p:cNvCxnSpPr>
            <a:stCxn xmlns:a="http://schemas.openxmlformats.org/drawingml/2006/main" id="6" idx="3"/>
            <a:endCxn xmlns:a="http://schemas.openxmlformats.org/drawingml/2006/main" id="21" idx="1"/>
          </p:cNvCxnSpPr>
          <p:nvPr/>
        </p:nvCxnSpPr>
        <p:spPr>
          <a:xfrm xmlns:a="http://schemas.openxmlformats.org/drawingml/2006/main">
            <a:off x="6667500" y="2409825"/>
            <a:ext cx="1952625" cy="381000"/>
          </a:xfrm>
          <a:prstGeom xmlns:a="http://schemas.openxmlformats.org/drawingml/2006/main" prst="bentConnector3">
            <a:avLst>
              <a:gd name="adj1" fmla="val 50000"/>
            </a:avLst>
          </a:prstGeom>
          <a:ln xmlns:a="http://schemas.openxmlformats.org/drawingml/2006/main" w="14288">
            <a:solidFill>
              <a:srgbClr val="76949A"/>
            </a:solidFill>
            <a:tailEnd type="arrow" w="sm" len="sm"/>
          </a:ln>
        </p:spPr>
      </p:cxnSp>
      <p:sp>
        <p:nvSpPr>
          <p:cNvPr id="23" name="Routing">
            <a:extLst xmlns:a="http://schemas.openxmlformats.org/drawingml/2006/main">
              <a:ext uri="{FF2B5EF4-FFF2-40B4-BE49-F238E27FC236}">
                <a16:creationId xmlns:a16="http://schemas.microsoft.com/office/drawing/2014/main" id="{749C3557-14B9-4E61-8A26-E02C1C970FF7}"/>
              </a:ext>
            </a:extLst>
          </p:cNvPr>
          <p:cNvSpPr>
            <a:spLocks xmlns:a="http://schemas.openxmlformats.org/drawingml/2006/main" noGrp="1"/>
          </p:cNvSpPr>
          <p:nvPr/>
        </p:nvSpPr>
        <p:spPr>
          <a:xfrm xmlns:a="http://schemas.openxmlformats.org/drawingml/2006/main">
            <a:off x="8620125" y="3114675"/>
            <a:ext cx="28384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B8C9CB"/>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02A36"/>
                </a:solidFill>
                <a:latin typeface="Segoe UI"/>
                <a:ea typeface="Segoe UI"/>
                <a:cs typeface="Segoe UI"/>
              </a:defRPr>
            </a:pPr>
            <a:r>
              <a:rPr sz="1650" b="1">
                <a:solidFill>
                  <a:srgbClr val="102A36"/>
                </a:solidFill>
                <a:latin typeface="Segoe UI"/>
                <a:ea typeface="Segoe UI"/>
                <a:cs typeface="Segoe UI"/>
              </a:rPr>
              <a:t>Routing</a:t>
            </a:r>
          </a:p>
        </p:txBody>
      </p:sp>
      <p:cxnSp>
        <p:nvCxnSpPr>
          <p:cNvPr id="60" name=""/>
          <p:cNvCxnSpPr>
            <a:stCxn xmlns:a="http://schemas.openxmlformats.org/drawingml/2006/main" id="6" idx="3"/>
            <a:endCxn xmlns:a="http://schemas.openxmlformats.org/drawingml/2006/main" id="23" idx="1"/>
          </p:cNvCxnSpPr>
          <p:nvPr/>
        </p:nvCxnSpPr>
        <p:spPr>
          <a:xfrm xmlns:a="http://schemas.openxmlformats.org/drawingml/2006/main">
            <a:off x="6667500" y="2409825"/>
            <a:ext cx="1952625" cy="914400"/>
          </a:xfrm>
          <a:prstGeom xmlns:a="http://schemas.openxmlformats.org/drawingml/2006/main" prst="bentConnector3">
            <a:avLst>
              <a:gd name="adj1" fmla="val 50000"/>
            </a:avLst>
          </a:prstGeom>
          <a:ln xmlns:a="http://schemas.openxmlformats.org/drawingml/2006/main" w="14288">
            <a:solidFill>
              <a:srgbClr val="76949A"/>
            </a:solidFill>
            <a:tailEnd type="arrow" w="sm" len="sm"/>
          </a:ln>
        </p:spPr>
      </p:cxnSp>
      <p:sp>
        <p:nvSpPr>
          <p:cNvPr id="25" name="Route optimization">
            <a:extLst xmlns:a="http://schemas.openxmlformats.org/drawingml/2006/main">
              <a:ext uri="{FF2B5EF4-FFF2-40B4-BE49-F238E27FC236}">
                <a16:creationId xmlns:a16="http://schemas.microsoft.com/office/drawing/2014/main" id="{7D8AEAC9-9B41-4AF0-B8FB-2946CF66C2AD}"/>
              </a:ext>
            </a:extLst>
          </p:cNvPr>
          <p:cNvSpPr>
            <a:spLocks xmlns:a="http://schemas.openxmlformats.org/drawingml/2006/main" noGrp="1"/>
          </p:cNvSpPr>
          <p:nvPr/>
        </p:nvSpPr>
        <p:spPr>
          <a:xfrm xmlns:a="http://schemas.openxmlformats.org/drawingml/2006/main">
            <a:off x="8620125" y="3648075"/>
            <a:ext cx="28384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B8C9CB"/>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02A36"/>
                </a:solidFill>
                <a:latin typeface="Segoe UI"/>
                <a:ea typeface="Segoe UI"/>
                <a:cs typeface="Segoe UI"/>
              </a:defRPr>
            </a:pPr>
            <a:r>
              <a:rPr sz="1650" b="1">
                <a:solidFill>
                  <a:srgbClr val="102A36"/>
                </a:solidFill>
                <a:latin typeface="Segoe UI"/>
                <a:ea typeface="Segoe UI"/>
                <a:cs typeface="Segoe UI"/>
              </a:rPr>
              <a:t>Route optimization</a:t>
            </a:r>
          </a:p>
        </p:txBody>
      </p:sp>
      <p:cxnSp>
        <p:nvCxnSpPr>
          <p:cNvPr id="62" name=""/>
          <p:cNvCxnSpPr>
            <a:stCxn xmlns:a="http://schemas.openxmlformats.org/drawingml/2006/main" id="6" idx="3"/>
            <a:endCxn xmlns:a="http://schemas.openxmlformats.org/drawingml/2006/main" id="25" idx="1"/>
          </p:cNvCxnSpPr>
          <p:nvPr/>
        </p:nvCxnSpPr>
        <p:spPr>
          <a:xfrm xmlns:a="http://schemas.openxmlformats.org/drawingml/2006/main">
            <a:off x="6667500" y="2409825"/>
            <a:ext cx="1952625" cy="1447800"/>
          </a:xfrm>
          <a:prstGeom xmlns:a="http://schemas.openxmlformats.org/drawingml/2006/main" prst="bentConnector3">
            <a:avLst>
              <a:gd name="adj1" fmla="val 50000"/>
            </a:avLst>
          </a:prstGeom>
          <a:ln xmlns:a="http://schemas.openxmlformats.org/drawingml/2006/main" w="14288">
            <a:solidFill>
              <a:srgbClr val="76949A"/>
            </a:solidFill>
            <a:tailEnd type="arrow" w="sm" len="sm"/>
          </a:ln>
        </p:spPr>
      </p:cxnSp>
      <p:sp>
        <p:nvSpPr>
          <p:cNvPr id="27" name="Each BE run has its own stage branch">
            <a:extLst xmlns:a="http://schemas.openxmlformats.org/drawingml/2006/main">
              <a:ext uri="{FF2B5EF4-FFF2-40B4-BE49-F238E27FC236}">
                <a16:creationId xmlns:a16="http://schemas.microsoft.com/office/drawing/2014/main" id="{AF1A07A2-2575-481C-801D-D192F6271D1E}"/>
              </a:ext>
            </a:extLst>
          </p:cNvPr>
          <p:cNvSpPr>
            <a:spLocks xmlns:a="http://schemas.openxmlformats.org/drawingml/2006/main" noGrp="1"/>
          </p:cNvSpPr>
          <p:nvPr/>
        </p:nvSpPr>
        <p:spPr>
          <a:xfrm xmlns:a="http://schemas.openxmlformats.org/drawingml/2006/main">
            <a:off x="7477125" y="4343400"/>
            <a:ext cx="407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46C"/>
                </a:solidFill>
                <a:latin typeface="Segoe UI"/>
                <a:ea typeface="Segoe UI"/>
                <a:cs typeface="Segoe UI"/>
              </a:defRPr>
            </a:pPr>
            <a:r>
              <a:rPr sz="1500" b="0">
                <a:solidFill>
                  <a:srgbClr val="52646C"/>
                </a:solidFill>
                <a:latin typeface="Segoe UI"/>
                <a:ea typeface="Segoe UI"/>
                <a:cs typeface="Segoe UI"/>
              </a:rPr>
              <a:t>Each BE run has its own stage branch</a:t>
            </a:r>
          </a:p>
        </p:txBody>
      </p:sp>
      <p:sp>
        <p:nvSpPr>
          <p:cNvPr id="28" name="Mail">
            <a:extLst xmlns:a="http://schemas.openxmlformats.org/drawingml/2006/main">
              <a:ext uri="{FF2B5EF4-FFF2-40B4-BE49-F238E27FC236}">
                <a16:creationId xmlns:a16="http://schemas.microsoft.com/office/drawing/2014/main" id="{9FC36733-89F2-4A29-B1DE-B32FF42AD303}"/>
              </a:ext>
            </a:extLst>
          </p:cNvPr>
          <p:cNvSpPr>
            <a:spLocks xmlns:a="http://schemas.openxmlformats.org/drawingml/2006/main" noGrp="1"/>
          </p:cNvSpPr>
          <p:nvPr/>
        </p:nvSpPr>
        <p:spPr>
          <a:xfrm xmlns:a="http://schemas.openxmlformats.org/drawingml/2006/main">
            <a:off x="714375" y="5181600"/>
            <a:ext cx="268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88"/>
                </a:solidFill>
                <a:latin typeface="Segoe UI"/>
                <a:ea typeface="Segoe UI"/>
                <a:cs typeface="Segoe UI"/>
              </a:defRPr>
            </a:pPr>
            <a:r>
              <a:rPr sz="1725" b="1">
                <a:solidFill>
                  <a:srgbClr val="007F88"/>
                </a:solidFill>
                <a:latin typeface="Segoe UI"/>
                <a:ea typeface="Segoe UI"/>
                <a:cs typeface="Segoe UI"/>
              </a:rPr>
              <a:t>Mail</a:t>
            </a:r>
          </a:p>
        </p:txBody>
      </p:sp>
      <p:sp>
        <p:nvSpPr>
          <p:cNvPr id="29" name="Share status and">
            <a:extLst xmlns:a="http://schemas.openxmlformats.org/drawingml/2006/main">
              <a:ext uri="{FF2B5EF4-FFF2-40B4-BE49-F238E27FC236}">
                <a16:creationId xmlns:a16="http://schemas.microsoft.com/office/drawing/2014/main" id="{EA4FDE29-0CAB-4AFC-86C1-476BFB372C2D}"/>
              </a:ext>
            </a:extLst>
          </p:cNvPr>
          <p:cNvSpPr>
            <a:spLocks xmlns:a="http://schemas.openxmlformats.org/drawingml/2006/main" noGrp="1"/>
          </p:cNvSpPr>
          <p:nvPr/>
        </p:nvSpPr>
        <p:spPr>
          <a:xfrm xmlns:a="http://schemas.openxmlformats.org/drawingml/2006/main">
            <a:off x="714375" y="5600700"/>
            <a:ext cx="2638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A36"/>
                </a:solidFill>
                <a:latin typeface="Segoe UI"/>
                <a:ea typeface="Segoe UI"/>
                <a:cs typeface="Segoe UI"/>
              </a:defRPr>
            </a:pPr>
            <a:r>
              <a:rPr sz="1725" b="0">
                <a:solidFill>
                  <a:srgbClr val="102A36"/>
                </a:solidFill>
                <a:latin typeface="Segoe UI"/>
                <a:ea typeface="Segoe UI"/>
                <a:cs typeface="Segoe UI"/>
              </a:rPr>
              <a:t>Share status and</a:t>
            </a:r>
          </a:p>
          <a:p xmlns:a="http://schemas.openxmlformats.org/drawingml/2006/main">
            <a:pPr>
              <a:defRPr sz="1725" b="0">
                <a:solidFill>
                  <a:srgbClr val="102A36"/>
                </a:solidFill>
                <a:latin typeface="Segoe UI"/>
                <a:ea typeface="Segoe UI"/>
                <a:cs typeface="Segoe UI"/>
              </a:defRPr>
            </a:pPr>
            <a:r>
              <a:rPr sz="1725" b="0">
                <a:solidFill>
                  <a:srgbClr val="102A36"/>
                </a:solidFill>
                <a:latin typeface="Segoe UI"/>
                <a:ea typeface="Segoe UI"/>
                <a:cs typeface="Segoe UI"/>
              </a:rPr>
              <a:t>QoR reports</a:t>
            </a:r>
          </a:p>
        </p:txBody>
      </p:sp>
      <p:sp>
        <p:nvSpPr>
          <p:cNvPr id="30" name="QoR comparison">
            <a:extLst xmlns:a="http://schemas.openxmlformats.org/drawingml/2006/main">
              <a:ext uri="{FF2B5EF4-FFF2-40B4-BE49-F238E27FC236}">
                <a16:creationId xmlns:a16="http://schemas.microsoft.com/office/drawing/2014/main" id="{CB3CF8BF-0E1F-4037-9338-2F3F827ACAB7}"/>
              </a:ext>
            </a:extLst>
          </p:cNvPr>
          <p:cNvSpPr>
            <a:spLocks xmlns:a="http://schemas.openxmlformats.org/drawingml/2006/main" noGrp="1"/>
          </p:cNvSpPr>
          <p:nvPr/>
        </p:nvSpPr>
        <p:spPr>
          <a:xfrm xmlns:a="http://schemas.openxmlformats.org/drawingml/2006/main">
            <a:off x="3505200" y="5181600"/>
            <a:ext cx="268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88"/>
                </a:solidFill>
                <a:latin typeface="Segoe UI"/>
                <a:ea typeface="Segoe UI"/>
                <a:cs typeface="Segoe UI"/>
              </a:defRPr>
            </a:pPr>
            <a:r>
              <a:rPr sz="1725" b="1">
                <a:solidFill>
                  <a:srgbClr val="007F88"/>
                </a:solidFill>
                <a:latin typeface="Segoe UI"/>
                <a:ea typeface="Segoe UI"/>
                <a:cs typeface="Segoe UI"/>
              </a:rPr>
              <a:t>QoR comparison</a:t>
            </a:r>
          </a:p>
        </p:txBody>
      </p:sp>
      <p:sp>
        <p:nvSpPr>
          <p:cNvPr id="31" name="Compare runs and">
            <a:extLst xmlns:a="http://schemas.openxmlformats.org/drawingml/2006/main">
              <a:ext uri="{FF2B5EF4-FFF2-40B4-BE49-F238E27FC236}">
                <a16:creationId xmlns:a16="http://schemas.microsoft.com/office/drawing/2014/main" id="{AC96E6FF-022A-42A4-A49A-02B72199C95D}"/>
              </a:ext>
            </a:extLst>
          </p:cNvPr>
          <p:cNvSpPr>
            <a:spLocks xmlns:a="http://schemas.openxmlformats.org/drawingml/2006/main" noGrp="1"/>
          </p:cNvSpPr>
          <p:nvPr/>
        </p:nvSpPr>
        <p:spPr>
          <a:xfrm xmlns:a="http://schemas.openxmlformats.org/drawingml/2006/main">
            <a:off x="3505200" y="5600700"/>
            <a:ext cx="2638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A36"/>
                </a:solidFill>
                <a:latin typeface="Segoe UI"/>
                <a:ea typeface="Segoe UI"/>
                <a:cs typeface="Segoe UI"/>
              </a:defRPr>
            </a:pPr>
            <a:r>
              <a:rPr sz="1725" b="0">
                <a:solidFill>
                  <a:srgbClr val="102A36"/>
                </a:solidFill>
                <a:latin typeface="Segoe UI"/>
                <a:ea typeface="Segoe UI"/>
                <a:cs typeface="Segoe UI"/>
              </a:rPr>
              <a:t>Compare runs and</a:t>
            </a:r>
          </a:p>
          <a:p xmlns:a="http://schemas.openxmlformats.org/drawingml/2006/main">
            <a:pPr>
              <a:defRPr sz="1725" b="0">
                <a:solidFill>
                  <a:srgbClr val="102A36"/>
                </a:solidFill>
                <a:latin typeface="Segoe UI"/>
                <a:ea typeface="Segoe UI"/>
                <a:cs typeface="Segoe UI"/>
              </a:defRPr>
            </a:pPr>
            <a:r>
              <a:rPr sz="1725" b="0">
                <a:solidFill>
                  <a:srgbClr val="102A36"/>
                </a:solidFill>
                <a:latin typeface="Segoe UI"/>
                <a:ea typeface="Segoe UI"/>
                <a:cs typeface="Segoe UI"/>
              </a:rPr>
              <a:t>golden baselines</a:t>
            </a:r>
          </a:p>
        </p:txBody>
      </p:sp>
      <p:sp>
        <p:nvSpPr>
          <p:cNvPr id="32" name="Disk usage">
            <a:extLst xmlns:a="http://schemas.openxmlformats.org/drawingml/2006/main">
              <a:ext uri="{FF2B5EF4-FFF2-40B4-BE49-F238E27FC236}">
                <a16:creationId xmlns:a16="http://schemas.microsoft.com/office/drawing/2014/main" id="{7FDDBDA1-7801-4472-B628-EF07C3438000}"/>
              </a:ext>
            </a:extLst>
          </p:cNvPr>
          <p:cNvSpPr>
            <a:spLocks xmlns:a="http://schemas.openxmlformats.org/drawingml/2006/main" noGrp="1"/>
          </p:cNvSpPr>
          <p:nvPr/>
        </p:nvSpPr>
        <p:spPr>
          <a:xfrm xmlns:a="http://schemas.openxmlformats.org/drawingml/2006/main">
            <a:off x="6296025" y="5181600"/>
            <a:ext cx="268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88"/>
                </a:solidFill>
                <a:latin typeface="Segoe UI"/>
                <a:ea typeface="Segoe UI"/>
                <a:cs typeface="Segoe UI"/>
              </a:defRPr>
            </a:pPr>
            <a:r>
              <a:rPr sz="1725" b="1">
                <a:solidFill>
                  <a:srgbClr val="007F88"/>
                </a:solidFill>
                <a:latin typeface="Segoe UI"/>
                <a:ea typeface="Segoe UI"/>
                <a:cs typeface="Segoe UI"/>
              </a:rPr>
              <a:t>Disk usage</a:t>
            </a:r>
          </a:p>
        </p:txBody>
      </p:sp>
      <p:sp>
        <p:nvSpPr>
          <p:cNvPr id="33" name="Review allocated">
            <a:extLst xmlns:a="http://schemas.openxmlformats.org/drawingml/2006/main">
              <a:ext uri="{FF2B5EF4-FFF2-40B4-BE49-F238E27FC236}">
                <a16:creationId xmlns:a16="http://schemas.microsoft.com/office/drawing/2014/main" id="{F32B42CF-284B-4751-A712-186C40360C95}"/>
              </a:ext>
            </a:extLst>
          </p:cNvPr>
          <p:cNvSpPr>
            <a:spLocks xmlns:a="http://schemas.openxmlformats.org/drawingml/2006/main" noGrp="1"/>
          </p:cNvSpPr>
          <p:nvPr/>
        </p:nvSpPr>
        <p:spPr>
          <a:xfrm xmlns:a="http://schemas.openxmlformats.org/drawingml/2006/main">
            <a:off x="6296025" y="5600700"/>
            <a:ext cx="2638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A36"/>
                </a:solidFill>
                <a:latin typeface="Segoe UI"/>
                <a:ea typeface="Segoe UI"/>
                <a:cs typeface="Segoe UI"/>
              </a:defRPr>
            </a:pPr>
            <a:r>
              <a:rPr sz="1725" b="0">
                <a:solidFill>
                  <a:srgbClr val="102A36"/>
                </a:solidFill>
                <a:latin typeface="Segoe UI"/>
                <a:ea typeface="Segoe UI"/>
                <a:cs typeface="Segoe UI"/>
              </a:rPr>
              <a:t>Review allocated</a:t>
            </a:r>
          </a:p>
          <a:p xmlns:a="http://schemas.openxmlformats.org/drawingml/2006/main">
            <a:pPr>
              <a:defRPr sz="1725" b="0">
                <a:solidFill>
                  <a:srgbClr val="102A36"/>
                </a:solidFill>
                <a:latin typeface="Segoe UI"/>
                <a:ea typeface="Segoe UI"/>
                <a:cs typeface="Segoe UI"/>
              </a:defRPr>
            </a:pPr>
            <a:r>
              <a:rPr sz="1725" b="0">
                <a:solidFill>
                  <a:srgbClr val="102A36"/>
                </a:solidFill>
                <a:latin typeface="Segoe UI"/>
                <a:ea typeface="Segoe UI"/>
                <a:cs typeface="Segoe UI"/>
              </a:rPr>
              <a:t>space by run</a:t>
            </a:r>
          </a:p>
        </p:txBody>
      </p:sp>
      <p:sp>
        <p:nvSpPr>
          <p:cNvPr id="34" name="Latest OUTFEED status">
            <a:extLst xmlns:a="http://schemas.openxmlformats.org/drawingml/2006/main">
              <a:ext uri="{FF2B5EF4-FFF2-40B4-BE49-F238E27FC236}">
                <a16:creationId xmlns:a16="http://schemas.microsoft.com/office/drawing/2014/main" id="{BD589A46-D3FD-4D5E-890F-7887D30F527E}"/>
              </a:ext>
            </a:extLst>
          </p:cNvPr>
          <p:cNvSpPr>
            <a:spLocks xmlns:a="http://schemas.openxmlformats.org/drawingml/2006/main" noGrp="1"/>
          </p:cNvSpPr>
          <p:nvPr/>
        </p:nvSpPr>
        <p:spPr>
          <a:xfrm xmlns:a="http://schemas.openxmlformats.org/drawingml/2006/main">
            <a:off x="9086850" y="5181600"/>
            <a:ext cx="268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88"/>
                </a:solidFill>
                <a:latin typeface="Segoe UI"/>
                <a:ea typeface="Segoe UI"/>
                <a:cs typeface="Segoe UI"/>
              </a:defRPr>
            </a:pPr>
            <a:r>
              <a:rPr sz="1725" b="1">
                <a:solidFill>
                  <a:srgbClr val="007F88"/>
                </a:solidFill>
                <a:latin typeface="Segoe UI"/>
                <a:ea typeface="Segoe UI"/>
                <a:cs typeface="Segoe UI"/>
              </a:rPr>
              <a:t>Latest OUTFEED status</a:t>
            </a:r>
          </a:p>
        </p:txBody>
      </p:sp>
      <p:sp>
        <p:nvSpPr>
          <p:cNvPr id="35" name="Review latest FE">
            <a:extLst xmlns:a="http://schemas.openxmlformats.org/drawingml/2006/main">
              <a:ext uri="{FF2B5EF4-FFF2-40B4-BE49-F238E27FC236}">
                <a16:creationId xmlns:a16="http://schemas.microsoft.com/office/drawing/2014/main" id="{F4193BD0-5457-444E-916A-E281FC92D372}"/>
              </a:ext>
            </a:extLst>
          </p:cNvPr>
          <p:cNvSpPr>
            <a:spLocks xmlns:a="http://schemas.openxmlformats.org/drawingml/2006/main" noGrp="1"/>
          </p:cNvSpPr>
          <p:nvPr/>
        </p:nvSpPr>
        <p:spPr>
          <a:xfrm xmlns:a="http://schemas.openxmlformats.org/drawingml/2006/main">
            <a:off x="9086850" y="5600700"/>
            <a:ext cx="2638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A36"/>
                </a:solidFill>
                <a:latin typeface="Segoe UI"/>
                <a:ea typeface="Segoe UI"/>
                <a:cs typeface="Segoe UI"/>
              </a:defRPr>
            </a:pPr>
            <a:r>
              <a:rPr sz="1725" b="0">
                <a:solidFill>
                  <a:srgbClr val="102A36"/>
                </a:solidFill>
                <a:latin typeface="Segoe UI"/>
                <a:ea typeface="Segoe UI"/>
                <a:cs typeface="Segoe UI"/>
              </a:rPr>
              <a:t>Review latest FE</a:t>
            </a:r>
          </a:p>
          <a:p xmlns:a="http://schemas.openxmlformats.org/drawingml/2006/main">
            <a:pPr>
              <a:defRPr sz="1725" b="0">
                <a:solidFill>
                  <a:srgbClr val="102A36"/>
                </a:solidFill>
                <a:latin typeface="Segoe UI"/>
                <a:ea typeface="Segoe UI"/>
                <a:cs typeface="Segoe UI"/>
              </a:defRPr>
            </a:pPr>
            <a:r>
              <a:rPr sz="1725" b="0">
                <a:solidFill>
                  <a:srgbClr val="102A36"/>
                </a:solidFill>
                <a:latin typeface="Segoe UI"/>
                <a:ea typeface="Segoe UI"/>
                <a:cs typeface="Segoe UI"/>
              </a:rPr>
              <a:t>and BE results</a:t>
            </a:r>
          </a:p>
        </p:txBody>
      </p:sp>
      <p:sp>
        <p:nvSpPr>
          <p:cNvPr id="36" name="04">
            <a:extLst xmlns:a="http://schemas.openxmlformats.org/drawingml/2006/main">
              <a:ext uri="{FF2B5EF4-FFF2-40B4-BE49-F238E27FC236}">
                <a16:creationId xmlns:a16="http://schemas.microsoft.com/office/drawing/2014/main" id="{10387308-F3AA-46F8-A954-3AF88C6E9BD3}"/>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6C"/>
                </a:solidFill>
                <a:latin typeface="Segoe UI"/>
                <a:ea typeface="Segoe UI"/>
                <a:cs typeface="Segoe UI"/>
              </a:defRPr>
            </a:pPr>
            <a:r>
              <a:rPr sz="1275" b="0">
                <a:solidFill>
                  <a:srgbClr val="52646C"/>
                </a:solidFill>
                <a:latin typeface="Segoe UI"/>
                <a:ea typeface="Segoe UI"/>
                <a:cs typeface="Segoe UI"/>
              </a:rPr>
              <a:t>04</a:t>
            </a:r>
          </a:p>
        </p:txBody>
      </p:sp>
    </p:spTree>
    <p:extLst>
      <p:ext uri="{BB962C8B-B14F-4D97-AF65-F5344CB8AC3E}">
        <p14:creationId xmlns:p14="http://schemas.microsoft.com/office/powerpoint/2010/main" val="1476024847"/>
      </p:ext>
    </p:extLst>
  </p:cSld>
</p:sld>
</file>

<file path=ppt/slides/slide5.xml><?xml version="1.0" encoding="utf-8"?>
<p:sld xmlns:p="http://schemas.openxmlformats.org/presentationml/2006/main">
  <p:cSld>
    <p:bg>
      <p:bgPr>
        <a:solidFill xmlns:a="http://schemas.openxmlformats.org/drawingml/2006/main">
          <a:srgbClr val="08151F"/>
        </a:solidFill>
      </p:bgPr>
    </p:bg>
    <p:spTree>
      <p:nvGrpSpPr>
        <p:cNvPr id="1" name=""/>
        <p:cNvGrpSpPr/>
        <p:nvPr/>
      </p:nvGrpSpPr>
      <p:grpSpPr>
        <a:xfrm xmlns:a="http://schemas.openxmlformats.org/drawingml/2006/main"/>
      </p:grpSpPr>
      <p:sp>
        <p:nvSpPr>
          <p:cNvPr id="12" name="VALUE TO THE TEAM">
            <a:extLst xmlns:a="http://schemas.openxmlformats.org/drawingml/2006/main">
              <a:ext uri="{FF2B5EF4-FFF2-40B4-BE49-F238E27FC236}">
                <a16:creationId xmlns:a16="http://schemas.microsoft.com/office/drawing/2014/main" id="{C1F09534-5293-4435-A4DD-CCF1BDE57222}"/>
              </a:ext>
            </a:extLst>
          </p:cNvPr>
          <p:cNvSpPr>
            <a:spLocks xmlns:a="http://schemas.openxmlformats.org/drawingml/2006/main" noGrp="1"/>
          </p:cNvSpPr>
          <p:nvPr/>
        </p:nvSpPr>
        <p:spPr>
          <a:xfrm xmlns:a="http://schemas.openxmlformats.org/drawingml/2006/main">
            <a:off x="685800" y="4667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70DDD6"/>
                </a:solidFill>
                <a:latin typeface="Segoe UI"/>
                <a:ea typeface="Segoe UI"/>
                <a:cs typeface="Segoe UI"/>
              </a:defRPr>
            </a:pPr>
            <a:r>
              <a:rPr sz="1350" b="1">
                <a:solidFill>
                  <a:srgbClr val="70DDD6"/>
                </a:solidFill>
                <a:latin typeface="Segoe UI"/>
                <a:ea typeface="Segoe UI"/>
                <a:cs typeface="Segoe UI"/>
              </a:rPr>
              <a:t>VALUE TO THE TEAM</a:t>
            </a:r>
          </a:p>
        </p:txBody>
      </p:sp>
      <p:sp>
        <p:nvSpPr>
          <p:cNvPr id="2" name="04">
            <a:extLst xmlns:a="http://schemas.openxmlformats.org/drawingml/2006/main">
              <a:ext uri="{FF2B5EF4-FFF2-40B4-BE49-F238E27FC236}">
                <a16:creationId xmlns:a16="http://schemas.microsoft.com/office/drawing/2014/main" id="{20A7614A-D4C5-4547-90A8-D35F5C0B5186}"/>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BCAD0"/>
                </a:solidFill>
                <a:latin typeface="Segoe UI"/>
                <a:ea typeface="Segoe UI"/>
                <a:cs typeface="Segoe UI"/>
              </a:defRPr>
            </a:pPr>
            <a:r>
              <a:rPr sz="1275" b="0">
                <a:solidFill>
                  <a:srgbClr val="BBCAD0"/>
                </a:solidFill>
                <a:latin typeface="Segoe UI"/>
                <a:ea typeface="Segoe UI"/>
                <a:cs typeface="Segoe UI"/>
              </a:rPr>
              <a:t>05</a:t>
            </a:r>
          </a:p>
        </p:txBody>
      </p:sp>
      <p:sp>
        <p:nvSpPr>
          <p:cNvPr id="3" name="Clearer answers in every run review">
            <a:extLst xmlns:a="http://schemas.openxmlformats.org/drawingml/2006/main">
              <a:ext uri="{FF2B5EF4-FFF2-40B4-BE49-F238E27FC236}">
                <a16:creationId xmlns:a16="http://schemas.microsoft.com/office/drawing/2014/main" id="{5C210624-FD31-4048-8A69-B53988F809A4}"/>
              </a:ext>
            </a:extLst>
          </p:cNvPr>
          <p:cNvSpPr>
            <a:spLocks xmlns:a="http://schemas.openxmlformats.org/drawingml/2006/main" noGrp="1"/>
          </p:cNvSpPr>
          <p:nvPr/>
        </p:nvSpPr>
        <p:spPr>
          <a:xfrm xmlns:a="http://schemas.openxmlformats.org/drawingml/2006/main">
            <a:off x="666750" y="1057275"/>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FFFFFF"/>
                </a:solidFill>
                <a:latin typeface="Segoe UI"/>
                <a:ea typeface="Segoe UI"/>
                <a:cs typeface="Segoe UI"/>
              </a:defRPr>
            </a:pPr>
            <a:r>
              <a:rPr sz="3675" b="1">
                <a:solidFill>
                  <a:srgbClr val="FFFFFF"/>
                </a:solidFill>
                <a:latin typeface="Segoe UI"/>
                <a:ea typeface="Segoe UI"/>
                <a:cs typeface="Segoe UI"/>
              </a:rPr>
              <a:t>More focused engineering reviews</a:t>
            </a:r>
          </a:p>
        </p:txBody>
      </p:sp>
      <p:sp>
        <p:nvSpPr>
          <p:cNvPr id="4" name="Run status at a glance">
            <a:extLst xmlns:a="http://schemas.openxmlformats.org/drawingml/2006/main">
              <a:ext uri="{FF2B5EF4-FFF2-40B4-BE49-F238E27FC236}">
                <a16:creationId xmlns:a16="http://schemas.microsoft.com/office/drawing/2014/main" id="{A3F352B3-C2AD-41F5-8619-CA3A904F4FC5}"/>
              </a:ext>
            </a:extLst>
          </p:cNvPr>
          <p:cNvSpPr>
            <a:spLocks xmlns:a="http://schemas.openxmlformats.org/drawingml/2006/main" noGrp="1"/>
          </p:cNvSpPr>
          <p:nvPr/>
        </p:nvSpPr>
        <p:spPr>
          <a:xfrm xmlns:a="http://schemas.openxmlformats.org/drawingml/2006/main">
            <a:off x="704850" y="2314575"/>
            <a:ext cx="5048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70DDD6"/>
                </a:solidFill>
                <a:latin typeface="Segoe UI"/>
                <a:ea typeface="Segoe UI"/>
                <a:cs typeface="Segoe UI"/>
              </a:defRPr>
            </a:pPr>
            <a:r>
              <a:rPr sz="2325" b="1">
                <a:solidFill>
                  <a:srgbClr val="70DDD6"/>
                </a:solidFill>
                <a:latin typeface="Segoe UI"/>
                <a:ea typeface="Segoe UI"/>
                <a:cs typeface="Segoe UI"/>
              </a:rPr>
              <a:t>Shared project visibility</a:t>
            </a:r>
          </a:p>
        </p:txBody>
      </p:sp>
      <p:sp>
        <p:nvSpPr>
          <p:cNvPr id="5" name="See run and stage status">
            <a:extLst xmlns:a="http://schemas.openxmlformats.org/drawingml/2006/main">
              <a:ext uri="{FF2B5EF4-FFF2-40B4-BE49-F238E27FC236}">
                <a16:creationId xmlns:a16="http://schemas.microsoft.com/office/drawing/2014/main" id="{780BA869-8E43-4B3A-9134-BADFBF088BC0}"/>
              </a:ext>
            </a:extLst>
          </p:cNvPr>
          <p:cNvSpPr>
            <a:spLocks xmlns:a="http://schemas.openxmlformats.org/drawingml/2006/main" noGrp="1"/>
          </p:cNvSpPr>
          <p:nvPr/>
        </p:nvSpPr>
        <p:spPr>
          <a:xfrm xmlns:a="http://schemas.openxmlformats.org/drawingml/2006/main">
            <a:off x="704850" y="2876550"/>
            <a:ext cx="5095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FFFFFF"/>
                </a:solidFill>
                <a:latin typeface="Segoe UI"/>
                <a:ea typeface="Segoe UI"/>
                <a:cs typeface="Segoe UI"/>
              </a:defRPr>
            </a:pPr>
            <a:r>
              <a:rPr sz="1950" b="0">
                <a:solidFill>
                  <a:srgbClr val="FFFFFF"/>
                </a:solidFill>
                <a:latin typeface="Segoe UI"/>
                <a:ea typeface="Segoe UI"/>
                <a:cs typeface="Segoe UI"/>
              </a:rPr>
              <a:t>Review RTL, run status, stage timing</a:t>
            </a:r>
          </a:p>
          <a:p xmlns:a="http://schemas.openxmlformats.org/drawingml/2006/main">
            <a:pPr>
              <a:buNone/>
              <a:defRPr sz="1950" b="0">
                <a:solidFill>
                  <a:srgbClr val="FFFFFF"/>
                </a:solidFill>
                <a:latin typeface="Segoe UI"/>
                <a:ea typeface="Segoe UI"/>
                <a:cs typeface="Segoe UI"/>
              </a:defRPr>
            </a:pPr>
            <a:r>
              <a:rPr sz="1950" b="0">
                <a:solidFill>
                  <a:srgbClr val="FFFFFF"/>
                </a:solidFill>
                <a:latin typeface="Segoe UI"/>
                <a:ea typeface="Segoe UI"/>
                <a:cs typeface="Segoe UI"/>
              </a:rPr>
              <a:t>and ownership in one place.</a:t>
            </a:r>
          </a:p>
        </p:txBody>
      </p:sp>
      <p:sp>
        <p:nvSpPr>
          <p:cNvPr id="6" name="TAT by run and stage">
            <a:extLst xmlns:a="http://schemas.openxmlformats.org/drawingml/2006/main">
              <a:ext uri="{FF2B5EF4-FFF2-40B4-BE49-F238E27FC236}">
                <a16:creationId xmlns:a16="http://schemas.microsoft.com/office/drawing/2014/main" id="{A533F708-E52D-457C-A7F8-10572970A2AA}"/>
              </a:ext>
            </a:extLst>
          </p:cNvPr>
          <p:cNvSpPr>
            <a:spLocks xmlns:a="http://schemas.openxmlformats.org/drawingml/2006/main" noGrp="1"/>
          </p:cNvSpPr>
          <p:nvPr/>
        </p:nvSpPr>
        <p:spPr>
          <a:xfrm xmlns:a="http://schemas.openxmlformats.org/drawingml/2006/main">
            <a:off x="6553200" y="2314575"/>
            <a:ext cx="50196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70DDD6"/>
                </a:solidFill>
                <a:latin typeface="Segoe UI"/>
                <a:ea typeface="Segoe UI"/>
                <a:cs typeface="Segoe UI"/>
              </a:defRPr>
            </a:pPr>
            <a:r>
              <a:rPr sz="2325" b="1">
                <a:solidFill>
                  <a:srgbClr val="70DDD6"/>
                </a:solidFill>
                <a:latin typeface="Segoe UI"/>
                <a:ea typeface="Segoe UI"/>
                <a:cs typeface="Segoe UI"/>
              </a:rPr>
              <a:t>Faster issue triage</a:t>
            </a:r>
          </a:p>
        </p:txBody>
      </p:sp>
      <p:sp>
        <p:nvSpPr>
          <p:cNvPr id="7" name="Review start/end times and runtime">
            <a:extLst xmlns:a="http://schemas.openxmlformats.org/drawingml/2006/main">
              <a:ext uri="{FF2B5EF4-FFF2-40B4-BE49-F238E27FC236}">
                <a16:creationId xmlns:a16="http://schemas.microsoft.com/office/drawing/2014/main" id="{F5BB50B4-02A6-457F-9897-2748CFEA4A87}"/>
              </a:ext>
            </a:extLst>
          </p:cNvPr>
          <p:cNvSpPr>
            <a:spLocks xmlns:a="http://schemas.openxmlformats.org/drawingml/2006/main" noGrp="1"/>
          </p:cNvSpPr>
          <p:nvPr/>
        </p:nvSpPr>
        <p:spPr>
          <a:xfrm xmlns:a="http://schemas.openxmlformats.org/drawingml/2006/main">
            <a:off x="6553200" y="2876550"/>
            <a:ext cx="50196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FFFFFF"/>
                </a:solidFill>
                <a:latin typeface="Segoe UI"/>
                <a:ea typeface="Segoe UI"/>
                <a:cs typeface="Segoe UI"/>
              </a:defRPr>
            </a:pPr>
            <a:r>
              <a:rPr sz="1950" b="0">
                <a:solidFill>
                  <a:srgbClr val="FFFFFF"/>
                </a:solidFill>
                <a:latin typeface="Segoe UI"/>
                <a:ea typeface="Segoe UI"/>
                <a:cs typeface="Segoe UI"/>
              </a:rPr>
              <a:t>Move from a failed or long-running</a:t>
            </a:r>
          </a:p>
          <a:p xmlns:a="http://schemas.openxmlformats.org/drawingml/2006/main">
            <a:pPr>
              <a:buNone/>
              <a:defRPr sz="1950" b="0">
                <a:solidFill>
                  <a:srgbClr val="FFFFFF"/>
                </a:solidFill>
                <a:latin typeface="Segoe UI"/>
                <a:ea typeface="Segoe UI"/>
                <a:cs typeface="Segoe UI"/>
              </a:defRPr>
            </a:pPr>
            <a:r>
              <a:rPr sz="1950" b="0">
                <a:solidFill>
                  <a:srgbClr val="FFFFFF"/>
                </a:solidFill>
                <a:latin typeface="Segoe UI"/>
                <a:ea typeface="Segoe UI"/>
                <a:cs typeface="Segoe UI"/>
              </a:rPr>
              <a:t>stage to relevant logs and reports.</a:t>
            </a:r>
          </a:p>
        </p:txBody>
      </p:sp>
      <p:sp>
        <p:nvSpPr>
          <p:cNvPr id="8" name="Baseline decisions">
            <a:extLst xmlns:a="http://schemas.openxmlformats.org/drawingml/2006/main">
              <a:ext uri="{FF2B5EF4-FFF2-40B4-BE49-F238E27FC236}">
                <a16:creationId xmlns:a16="http://schemas.microsoft.com/office/drawing/2014/main" id="{9980784B-56BA-478C-8632-CC26420A13FC}"/>
              </a:ext>
            </a:extLst>
          </p:cNvPr>
          <p:cNvSpPr>
            <a:spLocks xmlns:a="http://schemas.openxmlformats.org/drawingml/2006/main" noGrp="1"/>
          </p:cNvSpPr>
          <p:nvPr/>
        </p:nvSpPr>
        <p:spPr>
          <a:xfrm xmlns:a="http://schemas.openxmlformats.org/drawingml/2006/main">
            <a:off x="704850" y="40671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70DDD6"/>
                </a:solidFill>
                <a:latin typeface="Segoe UI"/>
                <a:ea typeface="Segoe UI"/>
                <a:cs typeface="Segoe UI"/>
              </a:defRPr>
            </a:pPr>
            <a:r>
              <a:rPr sz="2325" b="1">
                <a:solidFill>
                  <a:srgbClr val="70DDD6"/>
                </a:solidFill>
                <a:latin typeface="Segoe UI"/>
                <a:ea typeface="Segoe UI"/>
                <a:cs typeface="Segoe UI"/>
              </a:rPr>
              <a:t>Better baseline decisions</a:t>
            </a:r>
          </a:p>
        </p:txBody>
      </p:sp>
      <p:sp>
        <p:nvSpPr>
          <p:cNvPr id="9" name="Compare QoR across candidate runs">
            <a:extLst xmlns:a="http://schemas.openxmlformats.org/drawingml/2006/main">
              <a:ext uri="{FF2B5EF4-FFF2-40B4-BE49-F238E27FC236}">
                <a16:creationId xmlns:a16="http://schemas.microsoft.com/office/drawing/2014/main" id="{8B31C0A9-383D-44BC-98F8-CC018AAAB469}"/>
              </a:ext>
            </a:extLst>
          </p:cNvPr>
          <p:cNvSpPr>
            <a:spLocks xmlns:a="http://schemas.openxmlformats.org/drawingml/2006/main" noGrp="1"/>
          </p:cNvSpPr>
          <p:nvPr/>
        </p:nvSpPr>
        <p:spPr>
          <a:xfrm xmlns:a="http://schemas.openxmlformats.org/drawingml/2006/main">
            <a:off x="704850" y="462915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FFFFFF"/>
                </a:solidFill>
                <a:latin typeface="Segoe UI"/>
                <a:ea typeface="Segoe UI"/>
                <a:cs typeface="Segoe UI"/>
              </a:defRPr>
            </a:pPr>
            <a:r>
              <a:rPr sz="1950" b="0">
                <a:solidFill>
                  <a:srgbClr val="FFFFFF"/>
                </a:solidFill>
                <a:latin typeface="Segoe UI"/>
                <a:ea typeface="Segoe UI"/>
                <a:cs typeface="Segoe UI"/>
              </a:rPr>
              <a:t>Compare candidate QoR with previous</a:t>
            </a:r>
          </a:p>
          <a:p xmlns:a="http://schemas.openxmlformats.org/drawingml/2006/main">
            <a:pPr>
              <a:buNone/>
              <a:defRPr sz="1950" b="0">
                <a:solidFill>
                  <a:srgbClr val="FFFFFF"/>
                </a:solidFill>
                <a:latin typeface="Segoe UI"/>
                <a:ea typeface="Segoe UI"/>
                <a:cs typeface="Segoe UI"/>
              </a:defRPr>
            </a:pPr>
            <a:r>
              <a:rPr sz="1950" b="0">
                <a:solidFill>
                  <a:srgbClr val="FFFFFF"/>
                </a:solidFill>
                <a:latin typeface="Segoe UI"/>
                <a:ea typeface="Segoe UI"/>
                <a:cs typeface="Segoe UI"/>
              </a:rPr>
              <a:t>runs and a golden reference.</a:t>
            </a:r>
          </a:p>
        </p:txBody>
      </p:sp>
      <p:sp>
        <p:nvSpPr>
          <p:cNvPr id="10" name="INTENDED IMPACT">
            <a:extLst xmlns:a="http://schemas.openxmlformats.org/drawingml/2006/main">
              <a:ext uri="{FF2B5EF4-FFF2-40B4-BE49-F238E27FC236}">
                <a16:creationId xmlns:a16="http://schemas.microsoft.com/office/drawing/2014/main" id="{0462FAC4-A029-4BA9-A5F5-A7253A4A9FB4}"/>
              </a:ext>
            </a:extLst>
          </p:cNvPr>
          <p:cNvSpPr>
            <a:spLocks xmlns:a="http://schemas.openxmlformats.org/drawingml/2006/main" noGrp="1"/>
          </p:cNvSpPr>
          <p:nvPr/>
        </p:nvSpPr>
        <p:spPr>
          <a:xfrm xmlns:a="http://schemas.openxmlformats.org/drawingml/2006/main">
            <a:off x="704850" y="5943600"/>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70DDD6"/>
                </a:solidFill>
                <a:latin typeface="Segoe UI"/>
                <a:ea typeface="Segoe UI"/>
                <a:cs typeface="Segoe UI"/>
              </a:defRPr>
            </a:pPr>
            <a:r>
              <a:rPr sz="1275" b="1">
                <a:solidFill>
                  <a:srgbClr val="70DDD6"/>
                </a:solidFill>
                <a:latin typeface="Segoe UI"/>
                <a:ea typeface="Segoe UI"/>
                <a:cs typeface="Segoe UI"/>
              </a:rPr>
              <a:t>INTENDED IMPACT</a:t>
            </a:r>
          </a:p>
        </p:txBody>
      </p:sp>
      <p:sp>
        <p:nvSpPr>
          <p:cNvPr id="11" name="Less manual status collation. More time for engineering">
            <a:extLst xmlns:a="http://schemas.openxmlformats.org/drawingml/2006/main">
              <a:ext uri="{FF2B5EF4-FFF2-40B4-BE49-F238E27FC236}">
                <a16:creationId xmlns:a16="http://schemas.microsoft.com/office/drawing/2014/main" id="{5CCF3BF3-536C-46C9-BB30-1A06DD03DE8E}"/>
              </a:ext>
            </a:extLst>
          </p:cNvPr>
          <p:cNvSpPr>
            <a:spLocks xmlns:a="http://schemas.openxmlformats.org/drawingml/2006/main" noGrp="1"/>
          </p:cNvSpPr>
          <p:nvPr/>
        </p:nvSpPr>
        <p:spPr>
          <a:xfrm xmlns:a="http://schemas.openxmlformats.org/drawingml/2006/main">
            <a:off x="3057525" y="5895975"/>
            <a:ext cx="8553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BCAD0"/>
                </a:solidFill>
                <a:latin typeface="Segoe UI"/>
                <a:ea typeface="Segoe UI"/>
                <a:cs typeface="Segoe UI"/>
              </a:defRPr>
            </a:pPr>
            <a:r>
              <a:rPr sz="1875" b="0">
                <a:solidFill>
                  <a:srgbClr val="BBCAD0"/>
                </a:solidFill>
                <a:latin typeface="Segoe UI"/>
                <a:ea typeface="Segoe UI"/>
                <a:cs typeface="Segoe UI"/>
              </a:rPr>
              <a:t>Less manual collation. More time for engineering decisions.</a:t>
            </a:r>
          </a:p>
        </p:txBody>
      </p:sp>
      <p:sp>
        <p:nvSpPr>
          <p:cNvPr id="13" name="Clearer team handoffs">
            <a:extLst xmlns:a="http://schemas.openxmlformats.org/drawingml/2006/main">
              <a:ext uri="{FF2B5EF4-FFF2-40B4-BE49-F238E27FC236}">
                <a16:creationId xmlns:a16="http://schemas.microsoft.com/office/drawing/2014/main" id="{3F97F294-6ACE-4201-A608-9E66BE606237}"/>
              </a:ext>
            </a:extLst>
          </p:cNvPr>
          <p:cNvSpPr>
            <a:spLocks xmlns:a="http://schemas.openxmlformats.org/drawingml/2006/main" noGrp="1"/>
          </p:cNvSpPr>
          <p:nvPr/>
        </p:nvSpPr>
        <p:spPr>
          <a:xfrm xmlns:a="http://schemas.openxmlformats.org/drawingml/2006/main">
            <a:off x="6553200" y="4067175"/>
            <a:ext cx="50196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70DDD6"/>
                </a:solidFill>
                <a:latin typeface="Segoe UI"/>
                <a:ea typeface="Segoe UI"/>
                <a:cs typeface="Segoe UI"/>
              </a:defRPr>
            </a:pPr>
            <a:r>
              <a:rPr sz="2325" b="1">
                <a:solidFill>
                  <a:srgbClr val="70DDD6"/>
                </a:solidFill>
                <a:latin typeface="Segoe UI"/>
                <a:ea typeface="Segoe UI"/>
                <a:cs typeface="Segoe UI"/>
              </a:rPr>
              <a:t>Clearer team handoffs</a:t>
            </a:r>
          </a:p>
        </p:txBody>
      </p:sp>
      <p:sp>
        <p:nvSpPr>
          <p:cNvPr id="14" name="Share status and QoR by mail,">
            <a:extLst xmlns:a="http://schemas.openxmlformats.org/drawingml/2006/main">
              <a:ext uri="{FF2B5EF4-FFF2-40B4-BE49-F238E27FC236}">
                <a16:creationId xmlns:a16="http://schemas.microsoft.com/office/drawing/2014/main" id="{91C6D24A-8CC7-498B-9F9F-0E1CAE8C32D4}"/>
              </a:ext>
            </a:extLst>
          </p:cNvPr>
          <p:cNvSpPr>
            <a:spLocks xmlns:a="http://schemas.openxmlformats.org/drawingml/2006/main" noGrp="1"/>
          </p:cNvSpPr>
          <p:nvPr/>
        </p:nvSpPr>
        <p:spPr>
          <a:xfrm xmlns:a="http://schemas.openxmlformats.org/drawingml/2006/main">
            <a:off x="6553200" y="4629150"/>
            <a:ext cx="5019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Segoe UI"/>
                <a:ea typeface="Segoe UI"/>
                <a:cs typeface="Segoe UI"/>
              </a:defRPr>
            </a:pPr>
            <a:r>
              <a:rPr sz="1950" b="0">
                <a:solidFill>
                  <a:srgbClr val="FFFFFF"/>
                </a:solidFill>
                <a:latin typeface="Segoe UI"/>
                <a:ea typeface="Segoe UI"/>
                <a:cs typeface="Segoe UI"/>
              </a:rPr>
              <a:t>Share status and QoR by mail,</a:t>
            </a:r>
          </a:p>
          <a:p xmlns:a="http://schemas.openxmlformats.org/drawingml/2006/main">
            <a:pPr>
              <a:defRPr sz="1950" b="0">
                <a:solidFill>
                  <a:srgbClr val="FFFFFF"/>
                </a:solidFill>
                <a:latin typeface="Segoe UI"/>
                <a:ea typeface="Segoe UI"/>
                <a:cs typeface="Segoe UI"/>
              </a:defRPr>
            </a:pPr>
            <a:r>
              <a:rPr sz="1950" b="0">
                <a:solidFill>
                  <a:srgbClr val="FFFFFF"/>
                </a:solidFill>
                <a:latin typeface="Segoe UI"/>
                <a:ea typeface="Segoe UI"/>
                <a:cs typeface="Segoe UI"/>
              </a:rPr>
              <a:t>including the latest OUTFEED results.</a:t>
            </a:r>
          </a:p>
        </p:txBody>
      </p:sp>
    </p:spTree>
    <p:extLst>
      <p:ext uri="{BB962C8B-B14F-4D97-AF65-F5344CB8AC3E}">
        <p14:creationId xmlns:p14="http://schemas.microsoft.com/office/powerpoint/2010/main" val="2139842890"/>
      </p:ext>
    </p:extLst>
  </p:cSld>
</p:sld>
</file>

<file path=ppt/slides/slide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Flow Pulse in action">
            <a:extLst xmlns:a="http://schemas.openxmlformats.org/drawingml/2006/main">
              <a:ext uri="{FF2B5EF4-FFF2-40B4-BE49-F238E27FC236}">
                <a16:creationId xmlns:a16="http://schemas.microsoft.com/office/drawing/2014/main" id="{A292E87D-6303-433B-8FF3-36ADE1472033}"/>
              </a:ext>
            </a:extLst>
          </p:cNvPr>
          <p:cNvSpPr>
            <a:spLocks xmlns:a="http://schemas.openxmlformats.org/drawingml/2006/main" noGrp="1"/>
          </p:cNvSpPr>
          <p:nvPr/>
        </p:nvSpPr>
        <p:spPr>
          <a:xfrm xmlns:a="http://schemas.openxmlformats.org/drawingml/2006/main">
            <a:off x="685800" y="390525"/>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2A36"/>
                </a:solidFill>
                <a:latin typeface="Segoe UI"/>
                <a:ea typeface="Segoe UI"/>
                <a:cs typeface="Segoe UI"/>
              </a:defRPr>
            </a:pPr>
            <a:r>
              <a:rPr sz="3600" b="1">
                <a:solidFill>
                  <a:srgbClr val="102A36"/>
                </a:solidFill>
                <a:latin typeface="Segoe UI"/>
                <a:ea typeface="Segoe UI"/>
                <a:cs typeface="Segoe UI"/>
              </a:rPr>
              <a:t>Flow Pulse in action</a:t>
            </a:r>
          </a:p>
        </p:txBody>
      </p:sp>
      <p:sp>
        <p:nvSpPr>
          <p:cNvPr id="2" name="GUI screenshot placeholder">
            <a:extLst xmlns:a="http://schemas.openxmlformats.org/drawingml/2006/main">
              <a:ext uri="{FF2B5EF4-FFF2-40B4-BE49-F238E27FC236}">
                <a16:creationId xmlns:a16="http://schemas.microsoft.com/office/drawing/2014/main" id="{B505AD82-0F4F-412E-A5B9-246F78ED84E5}"/>
              </a:ext>
            </a:extLst>
          </p:cNvPr>
          <p:cNvSpPr>
            <a:spLocks xmlns:a="http://schemas.openxmlformats.org/drawingml/2006/main" noGrp="1"/>
          </p:cNvSpPr>
          <p:nvPr/>
        </p:nvSpPr>
        <p:spPr>
          <a:xfrm xmlns:a="http://schemas.openxmlformats.org/drawingml/2006/main">
            <a:off x="1476375" y="1362075"/>
            <a:ext cx="9239250" cy="5197078"/>
          </a:xfrm>
          <a:prstGeom xmlns:a="http://schemas.openxmlformats.org/drawingml/2006/main" prst="rect">
            <a:avLst/>
          </a:prstGeom>
          <a:solidFill xmlns:a="http://schemas.openxmlformats.org/drawingml/2006/main">
            <a:srgbClr val="E8EFEE"/>
          </a:solidFill>
          <a:ln xmlns:a="http://schemas.openxmlformats.org/drawingml/2006/main" w="14288">
            <a:solidFill>
              <a:srgbClr val="78999E"/>
            </a:solidFill>
            <a:prstDash val="dash"/>
          </a:ln>
        </p:spPr>
      </p:sp>
      <p:sp>
        <p:nvSpPr>
          <p:cNvPr id="3" name="Paste GUI screenshot here">
            <a:extLst xmlns:a="http://schemas.openxmlformats.org/drawingml/2006/main">
              <a:ext uri="{FF2B5EF4-FFF2-40B4-BE49-F238E27FC236}">
                <a16:creationId xmlns:a16="http://schemas.microsoft.com/office/drawing/2014/main" id="{DE387441-75D5-4DA2-8EE6-6EC4F075D5B4}"/>
              </a:ext>
            </a:extLst>
          </p:cNvPr>
          <p:cNvSpPr>
            <a:spLocks xmlns:a="http://schemas.openxmlformats.org/drawingml/2006/main" noGrp="1"/>
          </p:cNvSpPr>
          <p:nvPr/>
        </p:nvSpPr>
        <p:spPr>
          <a:xfrm xmlns:a="http://schemas.openxmlformats.org/drawingml/2006/main">
            <a:off x="2190750" y="3333750"/>
            <a:ext cx="781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625" b="1">
                <a:solidFill>
                  <a:srgbClr val="007F88"/>
                </a:solidFill>
                <a:latin typeface="Segoe UI"/>
                <a:ea typeface="Segoe UI"/>
                <a:cs typeface="Segoe UI"/>
              </a:defRPr>
            </a:pPr>
            <a:r>
              <a:rPr sz="2625" b="1">
                <a:solidFill>
                  <a:srgbClr val="007F88"/>
                </a:solidFill>
                <a:latin typeface="Segoe UI"/>
                <a:ea typeface="Segoe UI"/>
                <a:cs typeface="Segoe UI"/>
              </a:rPr>
              <a:t>Paste GUI screenshot here</a:t>
            </a:r>
          </a:p>
        </p:txBody>
      </p:sp>
      <p:sp>
        <p:nvSpPr>
          <p:cNvPr id="4" name="Use a view with an expanded FE run and its PNR stages">
            <a:extLst xmlns:a="http://schemas.openxmlformats.org/drawingml/2006/main">
              <a:ext uri="{FF2B5EF4-FFF2-40B4-BE49-F238E27FC236}">
                <a16:creationId xmlns:a16="http://schemas.microsoft.com/office/drawing/2014/main" id="{0B6897FD-4446-4021-BB45-381B00DCC22B}"/>
              </a:ext>
            </a:extLst>
          </p:cNvPr>
          <p:cNvSpPr>
            <a:spLocks xmlns:a="http://schemas.openxmlformats.org/drawingml/2006/main" noGrp="1"/>
          </p:cNvSpPr>
          <p:nvPr/>
        </p:nvSpPr>
        <p:spPr>
          <a:xfrm xmlns:a="http://schemas.openxmlformats.org/drawingml/2006/main">
            <a:off x="2190750" y="4019550"/>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0">
                <a:solidFill>
                  <a:srgbClr val="52646C"/>
                </a:solidFill>
                <a:latin typeface="Segoe UI"/>
                <a:ea typeface="Segoe UI"/>
                <a:cs typeface="Segoe UI"/>
              </a:defRPr>
            </a:pPr>
            <a:r>
              <a:rPr sz="1800" b="0">
                <a:solidFill>
                  <a:srgbClr val="52646C"/>
                </a:solidFill>
                <a:latin typeface="Segoe UI"/>
                <a:ea typeface="Segoe UI"/>
                <a:cs typeface="Segoe UI"/>
              </a:rPr>
              <a:t>Use a view with an expanded FE run and its PNR stages</a:t>
            </a:r>
          </a:p>
        </p:txBody>
      </p:sp>
      <p:sp>
        <p:nvSpPr>
          <p:cNvPr id="5" name="06">
            <a:extLst xmlns:a="http://schemas.openxmlformats.org/drawingml/2006/main">
              <a:ext uri="{FF2B5EF4-FFF2-40B4-BE49-F238E27FC236}">
                <a16:creationId xmlns:a16="http://schemas.microsoft.com/office/drawing/2014/main" id="{C50E4108-A8D7-4C21-8DB1-5B6528A6EFC6}"/>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6C"/>
                </a:solidFill>
                <a:latin typeface="Segoe UI"/>
                <a:ea typeface="Segoe UI"/>
                <a:cs typeface="Segoe UI"/>
              </a:defRPr>
            </a:pPr>
            <a:r>
              <a:rPr sz="1275" b="0">
                <a:solidFill>
                  <a:srgbClr val="52646C"/>
                </a:solidFill>
                <a:latin typeface="Segoe UI"/>
                <a:ea typeface="Segoe UI"/>
                <a:cs typeface="Segoe UI"/>
              </a:rPr>
              <a:t>06</a:t>
            </a:r>
          </a:p>
        </p:txBody>
      </p:sp>
    </p:spTree>
    <p:extLst>
      <p:ext uri="{BB962C8B-B14F-4D97-AF65-F5344CB8AC3E}">
        <p14:creationId xmlns:p14="http://schemas.microsoft.com/office/powerpoint/2010/main" val="18255404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2026-10-05T12:23:11.2950000Z</dcterms:created>
  <dcterms:modified xsi:type="dcterms:W3CDTF">2026-10-05T12:23:11.2960000Z</dcterms:modified>
</coreProperties>
</file>