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be2ff5a425e405b" /><Relationship Type="http://schemas.openxmlformats.org/officeDocument/2006/relationships/extended-properties" Target="/docProps/app.xml" Id="R591209979d1b4c54" /><Relationship Type="http://schemas.openxmlformats.org/officeDocument/2006/relationships/officeDocument" Target="/ppt/presentation.xml" Id="Rbc87f1f7e9ee4dfb" /></Relationships>
</file>

<file path=ppt/presentation.xml><?xml version="1.0" encoding="utf-8"?>
<p:presentation xmlns:p="http://schemas.openxmlformats.org/presentationml/2006/main">
  <p:sldMasterIdLst>
    <p:sldMasterId xmlns:r="http://schemas.openxmlformats.org/officeDocument/2006/relationships" id="2147483648" r:id="R9df0de2d22104344"/>
  </p:sldMasterIdLst>
  <p:notesMasterIdLst>
    <p:notesMasterId xmlns:r="http://schemas.openxmlformats.org/officeDocument/2006/relationships" r:id="R4914e19910d94df2"/>
  </p:notesMasterIdLst>
  <p:sldIdLst>
    <p:sldId xmlns:r="http://schemas.openxmlformats.org/officeDocument/2006/relationships" id="256" r:id="Ra8099bf227194677"/>
    <p:sldId xmlns:r="http://schemas.openxmlformats.org/officeDocument/2006/relationships" id="257" r:id="R75f5ac3f9e7d4ab3"/>
    <p:sldId xmlns:r="http://schemas.openxmlformats.org/officeDocument/2006/relationships" id="258" r:id="R4a59d7b47f244f83"/>
    <p:sldId xmlns:r="http://schemas.openxmlformats.org/officeDocument/2006/relationships" id="259" r:id="R0d9c2e831dcb4b6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7a46975b16645a4" /><Relationship Type="http://schemas.openxmlformats.org/officeDocument/2006/relationships/slideMaster" Target="/ppt/slideMasters/slideMaster1.xml" Id="R9df0de2d22104344" /><Relationship Type="http://schemas.openxmlformats.org/officeDocument/2006/relationships/notesMaster" Target="/ppt/notesMasters/notesMaster1.xml" Id="R4914e19910d94df2" /><Relationship Type="http://schemas.openxmlformats.org/officeDocument/2006/relationships/presProps" Target="/ppt/presProps.xml" Id="Rd9a3b8bcecd8445c" /><Relationship Type="http://schemas.openxmlformats.org/officeDocument/2006/relationships/tableStyles" Target="/ppt/tableStyles.xml" Id="R81a22cd537204a2a" /><Relationship Type="http://schemas.openxmlformats.org/officeDocument/2006/relationships/slide" Target="/ppt/slides/slide1.xml" Id="Ra8099bf227194677" /><Relationship Type="http://schemas.openxmlformats.org/officeDocument/2006/relationships/slide" Target="/ppt/slides/slide2.xml" Id="R75f5ac3f9e7d4ab3" /><Relationship Type="http://schemas.openxmlformats.org/officeDocument/2006/relationships/slide" Target="/ppt/slides/slide3.xml" Id="R4a59d7b47f244f83" /><Relationship Type="http://schemas.openxmlformats.org/officeDocument/2006/relationships/slide" Target="/ppt/slides/slide4.xml" Id="R0d9c2e831dcb4b6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0af5469e832447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8807c22466943fc" /><Relationship Type="http://schemas.openxmlformats.org/officeDocument/2006/relationships/notesMaster" Target="/ppt/notesMasters/notesMaster1.xml" Id="R2eab9ae3ae8840aa" /></Relationships>
</file>

<file path=ppt/notesSlides/_rels/notesSlide2.xml.rels>&#65279;<?xml version="1.0" encoding="utf-8"?><Relationships xmlns="http://schemas.openxmlformats.org/package/2006/relationships"><Relationship Type="http://schemas.openxmlformats.org/officeDocument/2006/relationships/slide" Target="/ppt/slides/slide2.xml" Id="R84fd361c00e84bba" /><Relationship Type="http://schemas.openxmlformats.org/officeDocument/2006/relationships/notesMaster" Target="/ppt/notesMasters/notesMaster1.xml" Id="R6be677f3453e4529" /></Relationships>
</file>

<file path=ppt/notesSlides/_rels/notesSlide3.xml.rels>&#65279;<?xml version="1.0" encoding="utf-8"?><Relationships xmlns="http://schemas.openxmlformats.org/package/2006/relationships"><Relationship Type="http://schemas.openxmlformats.org/officeDocument/2006/relationships/slide" Target="/ppt/slides/slide3.xml" Id="Rade3a074bf5f480b" /><Relationship Type="http://schemas.openxmlformats.org/officeDocument/2006/relationships/notesMaster" Target="/ppt/notesMasters/notesMaster1.xml" Id="Rb16472c442ad4854" /></Relationships>
</file>

<file path=ppt/notesSlides/_rels/notesSlide4.xml.rels>&#65279;<?xml version="1.0" encoding="utf-8"?><Relationships xmlns="http://schemas.openxmlformats.org/package/2006/relationships"><Relationship Type="http://schemas.openxmlformats.org/officeDocument/2006/relationships/slide" Target="/ppt/slides/slide4.xml" Id="R13ef298c18624884" /><Relationship Type="http://schemas.openxmlformats.org/officeDocument/2006/relationships/notesMaster" Target="/ppt/notesMasters/notesMaster1.xml" Id="Rb3bf1e43a8024e1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idea is a unified dashboard for tracking run statuses and TAT from synthesis to PNR. The objective is to connect progress with the timing and quality evidence needed for implementation reviews. Engineers can move from an overview to a specific run, inspect its stage history and compare the result with another baseline. TAT means turnaround time and QoR means quality of results. Current timing evidence consists of run and stage runtime plus start/end timestamps.</a:t>
            </a:r>
          </a:p>
          <a:p xmlns:a="http://schemas.openxmlformats.org/drawingml/2006/main">
            <a:r>
              <a:t/>
            </a:r>
          </a:p>
          <a:p xmlns:a="http://schemas.openxmlformats.org/drawingml/2006/main">
            <a:r>
              <a:t>Source: User positioning statement; Flow Pulse main.py run/stage views and comparison actions. Cover: conceptual artwork generated with the built-in image-generation tool, not an actual device or dashboard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problem is fragmented visibility. Status, runtime and QoR already exist in logs and reports, but they are spread across workspace and published run folders. To answer even a simple review question, an engineer often needs to locate the right run, check multiple files and assemble the results. Flow Pulse aims to reduce this repeated collation. These are the workflow problems the concept addresses, not quantified productivity measurements.</a:t>
            </a:r>
          </a:p>
          <a:p xmlns:a="http://schemas.openxmlformats.org/drawingml/2006/main">
            <a:r>
              <a:t/>
            </a:r>
          </a:p>
          <a:p xmlns:a="http://schemas.openxmlformats.org/drawingml/2006/main">
            <a:r>
              <a:t>Source: User project context; main.py workspace/OUTFEED views, BranchStatusDialog and metric comparison workflows; workers.py ScannerWorker.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dashboard works with existing project outputs. First, it discovers runs from workspace and OUTFEED directories. It organizes them by release and block, preserving the front-end parent and back-end child relationship. It reads available reports and logs to surface status, start/end times and runtime. The final step is review: engineers compare selected runs, inspect metric differences and use a pinned golden reference. This is a monitoring and analysis workflow. It does not schedule or execute implementation jobs. Report availability and project configuration determine the detail shown.</a:t>
            </a:r>
          </a:p>
          <a:p xmlns:a="http://schemas.openxmlformats.org/drawingml/2006/main">
            <a:r>
              <a:t/>
            </a:r>
          </a:p>
          <a:p xmlns:a="http://schemas.openxmlformats.org/drawingml/2006/main">
            <a:r>
              <a:t>Source: workers.py ScannerWorker; main.py PDDashboard._build_tree, _create_run_item, _populate_stage_rows, run_qor_comparison, show_ror_metric_diff, show_golden_benchmark.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practical outcome I want for the team: clearer answers to recurring review questions. Where are we in the flow? Which stages need attention? What changed against the baseline? Filters, saved RTL selection and notes help retain context. Logs, QoR summaries and status packages support follow-up. The intended benefit is less manual collation and more focused engineering review. No measured productivity improvement is claimed. A live-project pilot can measure review effort and response time in the Linux/RHEL VDI environment.</a:t>
            </a:r>
          </a:p>
          <a:p xmlns:a="http://schemas.openxmlformats.org/drawingml/2006/main">
            <a:r>
              <a:t/>
            </a:r>
          </a:p>
          <a:p xmlns:a="http://schemas.openxmlformats.org/drawingml/2006/main">
            <a:r>
              <a:t>Source: User goals and Linux/RHEL VDI context; main.py filter/persistence, run timing, notes/pins, comparison and status-package features.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b85d34cfe3c44f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8669145bedc40a5" /><Relationship Type="http://schemas.openxmlformats.org/officeDocument/2006/relationships/slideLayout" Target="/ppt/slideLayouts/slideLayout1.xml" Id="R107e4d7c40a44ee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07e4d7c40a44ee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6e167a7f13444c1" /><Relationship Type="http://schemas.openxmlformats.org/officeDocument/2006/relationships/image" Target="/ppt/media/image.png" Id="R854513a7d0a44b9d" /><Relationship Type="http://schemas.openxmlformats.org/officeDocument/2006/relationships/notesSlide" Target="/ppt/notesSlides/notesSlide1.xml" Id="R4518eff4a1de4d8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e95e6deabd144ab" /><Relationship Type="http://schemas.openxmlformats.org/officeDocument/2006/relationships/notesSlide" Target="/ppt/notesSlides/notesSlide2.xml" Id="R00b403cf562242f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8ec064341084ac0" /><Relationship Type="http://schemas.openxmlformats.org/officeDocument/2006/relationships/notesSlide" Target="/ppt/notesSlides/notesSlide3.xml" Id="R85486f294618485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2cf1caa9f8a4460" /><Relationship Type="http://schemas.openxmlformats.org/officeDocument/2006/relationships/notesSlide" Target="/ppt/notesSlides/notesSlide4.xml" Id="R0d643e49498941f5" /></Relationships>
</file>

<file path=ppt/slides/slide1.xml><?xml version="1.0" encoding="utf-8"?>
<p:sld xmlns:p="http://schemas.openxmlformats.org/presentationml/2006/main">
  <p:cSld>
    <p:bg>
      <p:bgPr>
        <a:solidFill xmlns:a="http://schemas.openxmlformats.org/drawingml/2006/main">
          <a:srgbClr val="08151F"/>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854513a7d0a44b9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FLOW PULSE">
            <a:extLst xmlns:a="http://schemas.openxmlformats.org/drawingml/2006/main">
              <a:ext uri="{FF2B5EF4-FFF2-40B4-BE49-F238E27FC236}">
                <a16:creationId xmlns:a16="http://schemas.microsoft.com/office/drawing/2014/main" id="{E82904DC-B516-483F-937C-B6539D0CB9E5}"/>
              </a:ext>
            </a:extLst>
          </p:cNvPr>
          <p:cNvSpPr>
            <a:spLocks xmlns:a="http://schemas.openxmlformats.org/drawingml/2006/main" noGrp="1"/>
          </p:cNvSpPr>
          <p:nvPr/>
        </p:nvSpPr>
        <p:spPr>
          <a:xfrm xmlns:a="http://schemas.openxmlformats.org/drawingml/2006/main">
            <a:off x="666750" y="542925"/>
            <a:ext cx="723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70DDD6"/>
                </a:solidFill>
                <a:latin typeface="Segoe UI"/>
                <a:ea typeface="Segoe UI"/>
                <a:cs typeface="Segoe UI"/>
              </a:defRPr>
            </a:pPr>
            <a:r>
              <a:rPr sz="2100" b="1">
                <a:solidFill>
                  <a:srgbClr val="70DDD6"/>
                </a:solidFill>
                <a:latin typeface="Segoe UI"/>
                <a:ea typeface="Segoe UI"/>
                <a:cs typeface="Segoe UI"/>
              </a:rPr>
              <a:t>FLOW PULSE</a:t>
            </a:r>
          </a:p>
        </p:txBody>
      </p:sp>
      <p:sp>
        <p:nvSpPr>
          <p:cNvPr id="3" name="Unified run visibility">
            <a:extLst xmlns:a="http://schemas.openxmlformats.org/drawingml/2006/main">
              <a:ext uri="{FF2B5EF4-FFF2-40B4-BE49-F238E27FC236}">
                <a16:creationId xmlns:a16="http://schemas.microsoft.com/office/drawing/2014/main" id="{96BA2387-7EF3-41DA-8FF9-E5EEB9C4740B}"/>
              </a:ext>
            </a:extLst>
          </p:cNvPr>
          <p:cNvSpPr>
            <a:spLocks xmlns:a="http://schemas.openxmlformats.org/drawingml/2006/main" noGrp="1"/>
          </p:cNvSpPr>
          <p:nvPr/>
        </p:nvSpPr>
        <p:spPr>
          <a:xfrm xmlns:a="http://schemas.openxmlformats.org/drawingml/2006/main">
            <a:off x="638175" y="1600200"/>
            <a:ext cx="8001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800" b="1">
                <a:solidFill>
                  <a:srgbClr val="FFFFFF"/>
                </a:solidFill>
                <a:latin typeface="Segoe UI"/>
                <a:ea typeface="Segoe UI"/>
                <a:cs typeface="Segoe UI"/>
              </a:defRPr>
            </a:pPr>
            <a:r>
              <a:rPr sz="4800" b="1">
                <a:solidFill>
                  <a:srgbClr val="FFFFFF"/>
                </a:solidFill>
                <a:latin typeface="Segoe UI"/>
                <a:ea typeface="Segoe UI"/>
                <a:cs typeface="Segoe UI"/>
              </a:rPr>
              <a:t>Unified run visibility</a:t>
            </a:r>
          </a:p>
        </p:txBody>
      </p:sp>
      <p:sp>
        <p:nvSpPr>
          <p:cNvPr id="4" name="from synth to PNR">
            <a:extLst xmlns:a="http://schemas.openxmlformats.org/drawingml/2006/main">
              <a:ext uri="{FF2B5EF4-FFF2-40B4-BE49-F238E27FC236}">
                <a16:creationId xmlns:a16="http://schemas.microsoft.com/office/drawing/2014/main" id="{D4E7E279-E7E9-4292-8100-FB6DFC3A37E4}"/>
              </a:ext>
            </a:extLst>
          </p:cNvPr>
          <p:cNvSpPr>
            <a:spLocks xmlns:a="http://schemas.openxmlformats.org/drawingml/2006/main" noGrp="1"/>
          </p:cNvSpPr>
          <p:nvPr/>
        </p:nvSpPr>
        <p:spPr>
          <a:xfrm xmlns:a="http://schemas.openxmlformats.org/drawingml/2006/main">
            <a:off x="638175" y="2466975"/>
            <a:ext cx="7524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800" b="0">
                <a:solidFill>
                  <a:srgbClr val="70DDD6"/>
                </a:solidFill>
                <a:latin typeface="Segoe UI Light"/>
                <a:ea typeface="Segoe UI Light"/>
                <a:cs typeface="Segoe UI Light"/>
              </a:defRPr>
            </a:pPr>
            <a:r>
              <a:rPr sz="4800" b="0">
                <a:solidFill>
                  <a:srgbClr val="70DDD6"/>
                </a:solidFill>
                <a:latin typeface="Segoe UI Light"/>
                <a:ea typeface="Segoe UI Light"/>
                <a:cs typeface="Segoe UI Light"/>
              </a:rPr>
              <a:t>from synth to PNR</a:t>
            </a:r>
          </a:p>
        </p:txBody>
      </p:sp>
      <p:sp>
        <p:nvSpPr>
          <p:cNvPr id="5" name="Run status and turnaround time in one dashboard.">
            <a:extLst xmlns:a="http://schemas.openxmlformats.org/drawingml/2006/main">
              <a:ext uri="{FF2B5EF4-FFF2-40B4-BE49-F238E27FC236}">
                <a16:creationId xmlns:a16="http://schemas.microsoft.com/office/drawing/2014/main" id="{4BD6300E-AFAC-4E45-AC65-2EB27ED2A56F}"/>
              </a:ext>
            </a:extLst>
          </p:cNvPr>
          <p:cNvSpPr>
            <a:spLocks xmlns:a="http://schemas.openxmlformats.org/drawingml/2006/main" noGrp="1"/>
          </p:cNvSpPr>
          <p:nvPr/>
        </p:nvSpPr>
        <p:spPr>
          <a:xfrm xmlns:a="http://schemas.openxmlformats.org/drawingml/2006/main">
            <a:off x="676275" y="3743325"/>
            <a:ext cx="69532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FFFFFF"/>
                </a:solidFill>
                <a:latin typeface="Segoe UI"/>
                <a:ea typeface="Segoe UI"/>
                <a:cs typeface="Segoe UI"/>
              </a:defRPr>
            </a:pPr>
            <a:r>
              <a:rPr sz="2025" b="0">
                <a:solidFill>
                  <a:srgbClr val="FFFFFF"/>
                </a:solidFill>
                <a:latin typeface="Segoe UI"/>
                <a:ea typeface="Segoe UI"/>
                <a:cs typeface="Segoe UI"/>
              </a:rPr>
              <a:t>Run status and turnaround time in one dashboard.</a:t>
            </a:r>
          </a:p>
          <a:p xmlns:a="http://schemas.openxmlformats.org/drawingml/2006/main">
            <a:pPr>
              <a:buNone/>
              <a:defRPr sz="2025" b="0">
                <a:solidFill>
                  <a:srgbClr val="FFFFFF"/>
                </a:solidFill>
                <a:latin typeface="Segoe UI"/>
                <a:ea typeface="Segoe UI"/>
                <a:cs typeface="Segoe UI"/>
              </a:defRPr>
            </a:pPr>
            <a:r>
              <a:rPr sz="2025" b="0">
                <a:solidFill>
                  <a:srgbClr val="FFFFFF"/>
                </a:solidFill>
                <a:latin typeface="Segoe UI"/>
                <a:ea typeface="Segoe UI"/>
                <a:cs typeface="Segoe UI"/>
              </a:rPr>
              <a:t>QoR comparison across multiple baselines.</a:t>
            </a:r>
          </a:p>
        </p:txBody>
      </p:sp>
      <p:sp>
        <p:nvSpPr>
          <p:cNvPr id="6" name="THE IDEA">
            <a:extLst xmlns:a="http://schemas.openxmlformats.org/drawingml/2006/main">
              <a:ext uri="{FF2B5EF4-FFF2-40B4-BE49-F238E27FC236}">
                <a16:creationId xmlns:a16="http://schemas.microsoft.com/office/drawing/2014/main" id="{E0FC65F2-F6CB-4637-8670-2142A36F2361}"/>
              </a:ext>
            </a:extLst>
          </p:cNvPr>
          <p:cNvSpPr>
            <a:spLocks xmlns:a="http://schemas.openxmlformats.org/drawingml/2006/main" noGrp="1"/>
          </p:cNvSpPr>
          <p:nvPr/>
        </p:nvSpPr>
        <p:spPr>
          <a:xfrm xmlns:a="http://schemas.openxmlformats.org/drawingml/2006/main">
            <a:off x="685800" y="5429250"/>
            <a:ext cx="428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1">
                <a:solidFill>
                  <a:srgbClr val="70DDD6"/>
                </a:solidFill>
                <a:latin typeface="Segoe UI"/>
                <a:ea typeface="Segoe UI"/>
                <a:cs typeface="Segoe UI"/>
              </a:defRPr>
            </a:pPr>
            <a:r>
              <a:rPr sz="1275" b="1">
                <a:solidFill>
                  <a:srgbClr val="70DDD6"/>
                </a:solidFill>
                <a:latin typeface="Segoe UI"/>
                <a:ea typeface="Segoe UI"/>
                <a:cs typeface="Segoe UI"/>
              </a:rPr>
              <a:t>THE IDEA</a:t>
            </a:r>
          </a:p>
        </p:txBody>
      </p:sp>
      <p:sp>
        <p:nvSpPr>
          <p:cNvPr id="7" name="Connect each run to its stages, timing and results">
            <a:extLst xmlns:a="http://schemas.openxmlformats.org/drawingml/2006/main">
              <a:ext uri="{FF2B5EF4-FFF2-40B4-BE49-F238E27FC236}">
                <a16:creationId xmlns:a16="http://schemas.microsoft.com/office/drawing/2014/main" id="{53C91E17-5A1C-4ACA-B23B-B54A68FCE70B}"/>
              </a:ext>
            </a:extLst>
          </p:cNvPr>
          <p:cNvSpPr>
            <a:spLocks xmlns:a="http://schemas.openxmlformats.org/drawingml/2006/main" noGrp="1"/>
          </p:cNvSpPr>
          <p:nvPr/>
        </p:nvSpPr>
        <p:spPr>
          <a:xfrm xmlns:a="http://schemas.openxmlformats.org/drawingml/2006/main">
            <a:off x="676275" y="5781675"/>
            <a:ext cx="69056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BBCAD0"/>
                </a:solidFill>
                <a:latin typeface="Segoe UI"/>
                <a:ea typeface="Segoe UI"/>
                <a:cs typeface="Segoe UI"/>
              </a:defRPr>
            </a:pPr>
            <a:r>
              <a:rPr sz="1800" b="0">
                <a:solidFill>
                  <a:srgbClr val="BBCAD0"/>
                </a:solidFill>
                <a:latin typeface="Segoe UI"/>
                <a:ea typeface="Segoe UI"/>
                <a:cs typeface="Segoe UI"/>
              </a:rPr>
              <a:t>Connect each run to its stages, timing and results</a:t>
            </a:r>
          </a:p>
          <a:p xmlns:a="http://schemas.openxmlformats.org/drawingml/2006/main">
            <a:pPr>
              <a:buNone/>
              <a:defRPr sz="1800" b="0">
                <a:solidFill>
                  <a:srgbClr val="BBCAD0"/>
                </a:solidFill>
                <a:latin typeface="Segoe UI"/>
                <a:ea typeface="Segoe UI"/>
                <a:cs typeface="Segoe UI"/>
              </a:defRPr>
            </a:pPr>
            <a:r>
              <a:rPr sz="1800" b="0">
                <a:solidFill>
                  <a:srgbClr val="BBCAD0"/>
                </a:solidFill>
                <a:latin typeface="Segoe UI"/>
                <a:ea typeface="Segoe UI"/>
                <a:cs typeface="Segoe UI"/>
              </a:rPr>
              <a:t>so the team can review the flow as a whole.</a:t>
            </a:r>
          </a:p>
        </p:txBody>
      </p:sp>
    </p:spTree>
    <p:extLst>
      <p:ext uri="{BB962C8B-B14F-4D97-AF65-F5344CB8AC3E}">
        <p14:creationId xmlns:p14="http://schemas.microsoft.com/office/powerpoint/2010/main" val="847259033"/>
      </p:ext>
    </p:extLst>
  </p:cSld>
</p:sld>
</file>

<file path=ppt/slides/slide2.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12" name="THE PROBLEM">
            <a:extLst xmlns:a="http://schemas.openxmlformats.org/drawingml/2006/main">
              <a:ext uri="{FF2B5EF4-FFF2-40B4-BE49-F238E27FC236}">
                <a16:creationId xmlns:a16="http://schemas.microsoft.com/office/drawing/2014/main" id="{E01FB74E-94D0-43AC-A90E-970F85842331}"/>
              </a:ext>
            </a:extLst>
          </p:cNvPr>
          <p:cNvSpPr>
            <a:spLocks xmlns:a="http://schemas.openxmlformats.org/drawingml/2006/main" noGrp="1"/>
          </p:cNvSpPr>
          <p:nvPr/>
        </p:nvSpPr>
        <p:spPr>
          <a:xfrm xmlns:a="http://schemas.openxmlformats.org/drawingml/2006/main">
            <a:off x="685800" y="466725"/>
            <a:ext cx="971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1">
                <a:solidFill>
                  <a:srgbClr val="007F88"/>
                </a:solidFill>
                <a:latin typeface="Segoe UI"/>
                <a:ea typeface="Segoe UI"/>
                <a:cs typeface="Segoe UI"/>
              </a:defRPr>
            </a:pPr>
            <a:r>
              <a:rPr sz="1350" b="1">
                <a:solidFill>
                  <a:srgbClr val="007F88"/>
                </a:solidFill>
                <a:latin typeface="Segoe UI"/>
                <a:ea typeface="Segoe UI"/>
                <a:cs typeface="Segoe UI"/>
              </a:rPr>
              <a:t>THE PROBLEM</a:t>
            </a:r>
          </a:p>
        </p:txBody>
      </p:sp>
      <p:sp>
        <p:nvSpPr>
          <p:cNvPr id="2" name="02">
            <a:extLst xmlns:a="http://schemas.openxmlformats.org/drawingml/2006/main">
              <a:ext uri="{FF2B5EF4-FFF2-40B4-BE49-F238E27FC236}">
                <a16:creationId xmlns:a16="http://schemas.microsoft.com/office/drawing/2014/main" id="{F0B18DA2-20A8-443C-8D02-38E1E1275BA0}"/>
              </a:ext>
            </a:extLst>
          </p:cNvPr>
          <p:cNvSpPr>
            <a:spLocks xmlns:a="http://schemas.openxmlformats.org/drawingml/2006/main" noGrp="1"/>
          </p:cNvSpPr>
          <p:nvPr/>
        </p:nvSpPr>
        <p:spPr>
          <a:xfrm xmlns:a="http://schemas.openxmlformats.org/drawingml/2006/main">
            <a:off x="11058525" y="6238875"/>
            <a:ext cx="514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2646C"/>
                </a:solidFill>
                <a:latin typeface="Segoe UI"/>
                <a:ea typeface="Segoe UI"/>
                <a:cs typeface="Segoe UI"/>
              </a:defRPr>
            </a:pPr>
            <a:r>
              <a:rPr sz="1275" b="0">
                <a:solidFill>
                  <a:srgbClr val="52646C"/>
                </a:solidFill>
                <a:latin typeface="Segoe UI"/>
                <a:ea typeface="Segoe UI"/>
                <a:cs typeface="Segoe UI"/>
              </a:rPr>
              <a:t>02</a:t>
            </a:r>
          </a:p>
        </p:txBody>
      </p:sp>
      <p:sp>
        <p:nvSpPr>
          <p:cNvPr id="3" name="The run-tracking gap">
            <a:extLst xmlns:a="http://schemas.openxmlformats.org/drawingml/2006/main">
              <a:ext uri="{FF2B5EF4-FFF2-40B4-BE49-F238E27FC236}">
                <a16:creationId xmlns:a16="http://schemas.microsoft.com/office/drawing/2014/main" id="{33C0495F-5A08-4DB0-9377-10EB14901267}"/>
              </a:ext>
            </a:extLst>
          </p:cNvPr>
          <p:cNvSpPr>
            <a:spLocks xmlns:a="http://schemas.openxmlformats.org/drawingml/2006/main" noGrp="1"/>
          </p:cNvSpPr>
          <p:nvPr/>
        </p:nvSpPr>
        <p:spPr>
          <a:xfrm xmlns:a="http://schemas.openxmlformats.org/drawingml/2006/main">
            <a:off x="666750" y="1038225"/>
            <a:ext cx="10763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750" b="1">
                <a:solidFill>
                  <a:srgbClr val="102A36"/>
                </a:solidFill>
                <a:latin typeface="Segoe UI"/>
                <a:ea typeface="Segoe UI"/>
                <a:cs typeface="Segoe UI"/>
              </a:defRPr>
            </a:pPr>
            <a:r>
              <a:rPr sz="3750" b="1">
                <a:solidFill>
                  <a:srgbClr val="102A36"/>
                </a:solidFill>
                <a:latin typeface="Segoe UI"/>
                <a:ea typeface="Segoe UI"/>
                <a:cs typeface="Segoe UI"/>
              </a:rPr>
              <a:t>The run-tracking gap</a:t>
            </a:r>
          </a:p>
        </p:txBody>
      </p:sp>
      <p:sp>
        <p:nvSpPr>
          <p:cNvPr id="4" name="Status lives across">
            <a:extLst xmlns:a="http://schemas.openxmlformats.org/drawingml/2006/main">
              <a:ext uri="{FF2B5EF4-FFF2-40B4-BE49-F238E27FC236}">
                <a16:creationId xmlns:a16="http://schemas.microsoft.com/office/drawing/2014/main" id="{69B35379-AB37-40C9-A465-5289F6C46119}"/>
              </a:ext>
            </a:extLst>
          </p:cNvPr>
          <p:cNvSpPr>
            <a:spLocks xmlns:a="http://schemas.openxmlformats.org/drawingml/2006/main" noGrp="1"/>
          </p:cNvSpPr>
          <p:nvPr/>
        </p:nvSpPr>
        <p:spPr>
          <a:xfrm xmlns:a="http://schemas.openxmlformats.org/drawingml/2006/main">
            <a:off x="666750" y="2200275"/>
            <a:ext cx="5381625" cy="2228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750" b="0">
                <a:solidFill>
                  <a:srgbClr val="102A36"/>
                </a:solidFill>
                <a:latin typeface="Segoe UI Light"/>
                <a:ea typeface="Segoe UI Light"/>
                <a:cs typeface="Segoe UI Light"/>
              </a:defRPr>
            </a:pPr>
            <a:r>
              <a:rPr sz="3750" b="0">
                <a:solidFill>
                  <a:srgbClr val="102A36"/>
                </a:solidFill>
                <a:latin typeface="Segoe UI Light"/>
                <a:ea typeface="Segoe UI Light"/>
                <a:cs typeface="Segoe UI Light"/>
              </a:rPr>
              <a:t>Status lives across</a:t>
            </a:r>
          </a:p>
          <a:p xmlns:a="http://schemas.openxmlformats.org/drawingml/2006/main">
            <a:pPr>
              <a:buNone/>
              <a:defRPr sz="3750" b="0">
                <a:solidFill>
                  <a:srgbClr val="102A36"/>
                </a:solidFill>
                <a:latin typeface="Segoe UI Light"/>
                <a:ea typeface="Segoe UI Light"/>
                <a:cs typeface="Segoe UI Light"/>
              </a:defRPr>
            </a:pPr>
            <a:r>
              <a:rPr sz="3750" b="0">
                <a:solidFill>
                  <a:srgbClr val="102A36"/>
                </a:solidFill>
                <a:latin typeface="Segoe UI Light"/>
                <a:ea typeface="Segoe UI Light"/>
                <a:cs typeface="Segoe UI Light"/>
              </a:rPr>
              <a:t>folders, logs</a:t>
            </a:r>
          </a:p>
          <a:p xmlns:a="http://schemas.openxmlformats.org/drawingml/2006/main">
            <a:pPr>
              <a:buNone/>
              <a:defRPr sz="3750" b="0">
                <a:solidFill>
                  <a:srgbClr val="102A36"/>
                </a:solidFill>
                <a:latin typeface="Segoe UI Light"/>
                <a:ea typeface="Segoe UI Light"/>
                <a:cs typeface="Segoe UI Light"/>
              </a:defRPr>
            </a:pPr>
            <a:r>
              <a:rPr sz="3750" b="0">
                <a:solidFill>
                  <a:srgbClr val="102A36"/>
                </a:solidFill>
                <a:latin typeface="Segoe UI Light"/>
                <a:ea typeface="Segoe UI Light"/>
                <a:cs typeface="Segoe UI Light"/>
              </a:rPr>
              <a:t>and reports</a:t>
            </a:r>
          </a:p>
        </p:txBody>
      </p:sp>
      <p:sp>
        <p:nvSpPr>
          <p:cNvPr id="5" name="The team has to assemble the context">
            <a:extLst xmlns:a="http://schemas.openxmlformats.org/drawingml/2006/main">
              <a:ext uri="{FF2B5EF4-FFF2-40B4-BE49-F238E27FC236}">
                <a16:creationId xmlns:a16="http://schemas.microsoft.com/office/drawing/2014/main" id="{D2CA2BBA-0FC2-46AD-B3FC-7C0E1EA02923}"/>
              </a:ext>
            </a:extLst>
          </p:cNvPr>
          <p:cNvSpPr>
            <a:spLocks xmlns:a="http://schemas.openxmlformats.org/drawingml/2006/main" noGrp="1"/>
          </p:cNvSpPr>
          <p:nvPr/>
        </p:nvSpPr>
        <p:spPr>
          <a:xfrm xmlns:a="http://schemas.openxmlformats.org/drawingml/2006/main">
            <a:off x="704850" y="4819650"/>
            <a:ext cx="4953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52646C"/>
                </a:solidFill>
                <a:latin typeface="Segoe UI"/>
                <a:ea typeface="Segoe UI"/>
                <a:cs typeface="Segoe UI"/>
              </a:defRPr>
            </a:pPr>
            <a:r>
              <a:rPr sz="2025" b="0">
                <a:solidFill>
                  <a:srgbClr val="52646C"/>
                </a:solidFill>
                <a:latin typeface="Segoe UI"/>
                <a:ea typeface="Segoe UI"/>
                <a:cs typeface="Segoe UI"/>
              </a:rPr>
              <a:t>Engineers open multiple folders and</a:t>
            </a:r>
          </a:p>
          <a:p xmlns:a="http://schemas.openxmlformats.org/drawingml/2006/main">
            <a:pPr>
              <a:buNone/>
              <a:defRPr sz="2025" b="0">
                <a:solidFill>
                  <a:srgbClr val="52646C"/>
                </a:solidFill>
                <a:latin typeface="Segoe UI"/>
                <a:ea typeface="Segoe UI"/>
                <a:cs typeface="Segoe UI"/>
              </a:defRPr>
            </a:pPr>
            <a:r>
              <a:rPr sz="2025" b="0">
                <a:solidFill>
                  <a:srgbClr val="52646C"/>
                </a:solidFill>
                <a:latin typeface="Segoe UI"/>
                <a:ea typeface="Segoe UI"/>
                <a:cs typeface="Segoe UI"/>
              </a:rPr>
              <a:t>reports to check run progress.</a:t>
            </a:r>
          </a:p>
        </p:txBody>
      </p:sp>
      <p:sp>
        <p:nvSpPr>
          <p:cNvPr id="6" name="Progress">
            <a:extLst xmlns:a="http://schemas.openxmlformats.org/drawingml/2006/main">
              <a:ext uri="{FF2B5EF4-FFF2-40B4-BE49-F238E27FC236}">
                <a16:creationId xmlns:a16="http://schemas.microsoft.com/office/drawing/2014/main" id="{2F9EC62E-BB86-4001-8AB8-0C41DEBD6D84}"/>
              </a:ext>
            </a:extLst>
          </p:cNvPr>
          <p:cNvSpPr>
            <a:spLocks xmlns:a="http://schemas.openxmlformats.org/drawingml/2006/main" noGrp="1"/>
          </p:cNvSpPr>
          <p:nvPr/>
        </p:nvSpPr>
        <p:spPr>
          <a:xfrm xmlns:a="http://schemas.openxmlformats.org/drawingml/2006/main">
            <a:off x="6619875" y="2124075"/>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007F88"/>
                </a:solidFill>
                <a:latin typeface="Segoe UI"/>
                <a:ea typeface="Segoe UI"/>
                <a:cs typeface="Segoe UI"/>
              </a:defRPr>
            </a:pPr>
            <a:r>
              <a:rPr sz="2100" b="1">
                <a:solidFill>
                  <a:srgbClr val="007F88"/>
                </a:solidFill>
                <a:latin typeface="Segoe UI"/>
                <a:ea typeface="Segoe UI"/>
                <a:cs typeface="Segoe UI"/>
              </a:rPr>
              <a:t>Progress</a:t>
            </a:r>
          </a:p>
        </p:txBody>
      </p:sp>
      <p:sp>
        <p:nvSpPr>
          <p:cNvPr id="7" name="Manual checks to identify active,">
            <a:extLst xmlns:a="http://schemas.openxmlformats.org/drawingml/2006/main">
              <a:ext uri="{FF2B5EF4-FFF2-40B4-BE49-F238E27FC236}">
                <a16:creationId xmlns:a16="http://schemas.microsoft.com/office/drawing/2014/main" id="{AC292902-8797-4BE0-ADD7-E77D6E87EF08}"/>
              </a:ext>
            </a:extLst>
          </p:cNvPr>
          <p:cNvSpPr>
            <a:spLocks xmlns:a="http://schemas.openxmlformats.org/drawingml/2006/main" noGrp="1"/>
          </p:cNvSpPr>
          <p:nvPr/>
        </p:nvSpPr>
        <p:spPr>
          <a:xfrm xmlns:a="http://schemas.openxmlformats.org/drawingml/2006/main">
            <a:off x="6619875" y="2590800"/>
            <a:ext cx="49053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02A36"/>
                </a:solidFill>
                <a:latin typeface="Segoe UI"/>
                <a:ea typeface="Segoe UI"/>
                <a:cs typeface="Segoe UI"/>
              </a:defRPr>
            </a:pPr>
            <a:r>
              <a:rPr sz="1875" b="0">
                <a:solidFill>
                  <a:srgbClr val="102A36"/>
                </a:solidFill>
                <a:latin typeface="Segoe UI"/>
                <a:ea typeface="Segoe UI"/>
                <a:cs typeface="Segoe UI"/>
              </a:rPr>
              <a:t>Manual checks to identify active,</a:t>
            </a:r>
          </a:p>
          <a:p xmlns:a="http://schemas.openxmlformats.org/drawingml/2006/main">
            <a:pPr>
              <a:buNone/>
              <a:defRPr sz="1875" b="0">
                <a:solidFill>
                  <a:srgbClr val="102A36"/>
                </a:solidFill>
                <a:latin typeface="Segoe UI"/>
                <a:ea typeface="Segoe UI"/>
                <a:cs typeface="Segoe UI"/>
              </a:defRPr>
            </a:pPr>
            <a:r>
              <a:rPr sz="1875" b="0">
                <a:solidFill>
                  <a:srgbClr val="102A36"/>
                </a:solidFill>
                <a:latin typeface="Segoe UI"/>
                <a:ea typeface="Segoe UI"/>
                <a:cs typeface="Segoe UI"/>
              </a:rPr>
              <a:t>completed or failed runs.</a:t>
            </a:r>
          </a:p>
        </p:txBody>
      </p:sp>
      <p:sp>
        <p:nvSpPr>
          <p:cNvPr id="8" name="Turnaround time">
            <a:extLst xmlns:a="http://schemas.openxmlformats.org/drawingml/2006/main">
              <a:ext uri="{FF2B5EF4-FFF2-40B4-BE49-F238E27FC236}">
                <a16:creationId xmlns:a16="http://schemas.microsoft.com/office/drawing/2014/main" id="{B4807108-6BD1-49E7-A223-46AB362BED3C}"/>
              </a:ext>
            </a:extLst>
          </p:cNvPr>
          <p:cNvSpPr>
            <a:spLocks xmlns:a="http://schemas.openxmlformats.org/drawingml/2006/main" noGrp="1"/>
          </p:cNvSpPr>
          <p:nvPr/>
        </p:nvSpPr>
        <p:spPr>
          <a:xfrm xmlns:a="http://schemas.openxmlformats.org/drawingml/2006/main">
            <a:off x="6619875" y="3448050"/>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007F88"/>
                </a:solidFill>
                <a:latin typeface="Segoe UI"/>
                <a:ea typeface="Segoe UI"/>
                <a:cs typeface="Segoe UI"/>
              </a:defRPr>
            </a:pPr>
            <a:r>
              <a:rPr sz="2100" b="1">
                <a:solidFill>
                  <a:srgbClr val="007F88"/>
                </a:solidFill>
                <a:latin typeface="Segoe UI"/>
                <a:ea typeface="Segoe UI"/>
                <a:cs typeface="Segoe UI"/>
              </a:rPr>
              <a:t>Turnaround time</a:t>
            </a:r>
          </a:p>
        </p:txBody>
      </p:sp>
      <p:sp>
        <p:nvSpPr>
          <p:cNvPr id="9" name="Repeated checks to piece together">
            <a:extLst xmlns:a="http://schemas.openxmlformats.org/drawingml/2006/main">
              <a:ext uri="{FF2B5EF4-FFF2-40B4-BE49-F238E27FC236}">
                <a16:creationId xmlns:a16="http://schemas.microsoft.com/office/drawing/2014/main" id="{3AD12B11-31FE-48CC-962B-7AA626C9C4AC}"/>
              </a:ext>
            </a:extLst>
          </p:cNvPr>
          <p:cNvSpPr>
            <a:spLocks xmlns:a="http://schemas.openxmlformats.org/drawingml/2006/main" noGrp="1"/>
          </p:cNvSpPr>
          <p:nvPr/>
        </p:nvSpPr>
        <p:spPr>
          <a:xfrm xmlns:a="http://schemas.openxmlformats.org/drawingml/2006/main">
            <a:off x="6619875" y="3914775"/>
            <a:ext cx="49053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02A36"/>
                </a:solidFill>
                <a:latin typeface="Segoe UI"/>
                <a:ea typeface="Segoe UI"/>
                <a:cs typeface="Segoe UI"/>
              </a:defRPr>
            </a:pPr>
            <a:r>
              <a:rPr sz="1875" b="0">
                <a:solidFill>
                  <a:srgbClr val="102A36"/>
                </a:solidFill>
                <a:latin typeface="Segoe UI"/>
                <a:ea typeface="Segoe UI"/>
                <a:cs typeface="Segoe UI"/>
              </a:rPr>
              <a:t>Repeated checks to piece together</a:t>
            </a:r>
          </a:p>
          <a:p xmlns:a="http://schemas.openxmlformats.org/drawingml/2006/main">
            <a:pPr>
              <a:buNone/>
              <a:defRPr sz="1875" b="0">
                <a:solidFill>
                  <a:srgbClr val="102A36"/>
                </a:solidFill>
                <a:latin typeface="Segoe UI"/>
                <a:ea typeface="Segoe UI"/>
                <a:cs typeface="Segoe UI"/>
              </a:defRPr>
            </a:pPr>
            <a:r>
              <a:rPr sz="1875" b="0">
                <a:solidFill>
                  <a:srgbClr val="102A36"/>
                </a:solidFill>
                <a:latin typeface="Segoe UI"/>
                <a:ea typeface="Segoe UI"/>
                <a:cs typeface="Segoe UI"/>
              </a:rPr>
              <a:t>stage timing and completion.</a:t>
            </a:r>
          </a:p>
        </p:txBody>
      </p:sp>
      <p:sp>
        <p:nvSpPr>
          <p:cNvPr id="10" name="Baseline comparison">
            <a:extLst xmlns:a="http://schemas.openxmlformats.org/drawingml/2006/main">
              <a:ext uri="{FF2B5EF4-FFF2-40B4-BE49-F238E27FC236}">
                <a16:creationId xmlns:a16="http://schemas.microsoft.com/office/drawing/2014/main" id="{61821D29-828B-4B22-A12D-FFAF9A771022}"/>
              </a:ext>
            </a:extLst>
          </p:cNvPr>
          <p:cNvSpPr>
            <a:spLocks xmlns:a="http://schemas.openxmlformats.org/drawingml/2006/main" noGrp="1"/>
          </p:cNvSpPr>
          <p:nvPr/>
        </p:nvSpPr>
        <p:spPr>
          <a:xfrm xmlns:a="http://schemas.openxmlformats.org/drawingml/2006/main">
            <a:off x="6619875" y="4772025"/>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007F88"/>
                </a:solidFill>
                <a:latin typeface="Segoe UI"/>
                <a:ea typeface="Segoe UI"/>
                <a:cs typeface="Segoe UI"/>
              </a:defRPr>
            </a:pPr>
            <a:r>
              <a:rPr sz="2100" b="1">
                <a:solidFill>
                  <a:srgbClr val="007F88"/>
                </a:solidFill>
                <a:latin typeface="Segoe UI"/>
                <a:ea typeface="Segoe UI"/>
                <a:cs typeface="Segoe UI"/>
              </a:rPr>
              <a:t>Baseline comparison</a:t>
            </a:r>
          </a:p>
        </p:txBody>
      </p:sp>
      <p:sp>
        <p:nvSpPr>
          <p:cNvPr id="11" name="Report collection before comparing">
            <a:extLst xmlns:a="http://schemas.openxmlformats.org/drawingml/2006/main">
              <a:ext uri="{FF2B5EF4-FFF2-40B4-BE49-F238E27FC236}">
                <a16:creationId xmlns:a16="http://schemas.microsoft.com/office/drawing/2014/main" id="{659FF249-A341-4707-86C8-277AC152D321}"/>
              </a:ext>
            </a:extLst>
          </p:cNvPr>
          <p:cNvSpPr>
            <a:spLocks xmlns:a="http://schemas.openxmlformats.org/drawingml/2006/main" noGrp="1"/>
          </p:cNvSpPr>
          <p:nvPr/>
        </p:nvSpPr>
        <p:spPr>
          <a:xfrm xmlns:a="http://schemas.openxmlformats.org/drawingml/2006/main">
            <a:off x="6619875" y="5238750"/>
            <a:ext cx="49053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02A36"/>
                </a:solidFill>
                <a:latin typeface="Segoe UI"/>
                <a:ea typeface="Segoe UI"/>
                <a:cs typeface="Segoe UI"/>
              </a:defRPr>
            </a:pPr>
            <a:r>
              <a:rPr sz="1875" b="0">
                <a:solidFill>
                  <a:srgbClr val="102A36"/>
                </a:solidFill>
                <a:latin typeface="Segoe UI"/>
                <a:ea typeface="Segoe UI"/>
                <a:cs typeface="Segoe UI"/>
              </a:rPr>
              <a:t>Report collection before comparing</a:t>
            </a:r>
          </a:p>
          <a:p xmlns:a="http://schemas.openxmlformats.org/drawingml/2006/main">
            <a:pPr>
              <a:buNone/>
              <a:defRPr sz="1875" b="0">
                <a:solidFill>
                  <a:srgbClr val="102A36"/>
                </a:solidFill>
                <a:latin typeface="Segoe UI"/>
                <a:ea typeface="Segoe UI"/>
                <a:cs typeface="Segoe UI"/>
              </a:defRPr>
            </a:pPr>
            <a:r>
              <a:rPr sz="1875" b="0">
                <a:solidFill>
                  <a:srgbClr val="102A36"/>
                </a:solidFill>
                <a:latin typeface="Segoe UI"/>
                <a:ea typeface="Segoe UI"/>
                <a:cs typeface="Segoe UI"/>
              </a:rPr>
              <a:t>RTL releases and run alternatives.</a:t>
            </a:r>
          </a:p>
        </p:txBody>
      </p:sp>
    </p:spTree>
    <p:extLst>
      <p:ext uri="{BB962C8B-B14F-4D97-AF65-F5344CB8AC3E}">
        <p14:creationId xmlns:p14="http://schemas.microsoft.com/office/powerpoint/2010/main" val="551695268"/>
      </p:ext>
    </p:extLst>
  </p:cSld>
</p:sld>
</file>

<file path=ppt/slides/slide3.xml><?xml version="1.0" encoding="utf-8"?>
<p:sld xmlns:p="http://schemas.openxmlformats.org/presentationml/2006/main">
  <p:cSld>
    <p:bg>
      <p:bgPr>
        <a:solidFill xmlns:a="http://schemas.openxmlformats.org/drawingml/2006/main">
          <a:srgbClr val="08151F"/>
        </a:solidFill>
      </p:bgPr>
    </p:bg>
    <p:spTree>
      <p:nvGrpSpPr>
        <p:cNvPr id="1" name=""/>
        <p:cNvGrpSpPr/>
        <p:nvPr/>
      </p:nvGrpSpPr>
      <p:grpSpPr>
        <a:xfrm xmlns:a="http://schemas.openxmlformats.org/drawingml/2006/main"/>
      </p:grpSpPr>
      <p:sp>
        <p:nvSpPr>
          <p:cNvPr id="17" name="HOW IT WORKS">
            <a:extLst xmlns:a="http://schemas.openxmlformats.org/drawingml/2006/main">
              <a:ext uri="{FF2B5EF4-FFF2-40B4-BE49-F238E27FC236}">
                <a16:creationId xmlns:a16="http://schemas.microsoft.com/office/drawing/2014/main" id="{A5C019C8-0203-452A-A0C9-C25F2F29967C}"/>
              </a:ext>
            </a:extLst>
          </p:cNvPr>
          <p:cNvSpPr>
            <a:spLocks xmlns:a="http://schemas.openxmlformats.org/drawingml/2006/main" noGrp="1"/>
          </p:cNvSpPr>
          <p:nvPr/>
        </p:nvSpPr>
        <p:spPr>
          <a:xfrm xmlns:a="http://schemas.openxmlformats.org/drawingml/2006/main">
            <a:off x="685800" y="466725"/>
            <a:ext cx="971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1">
                <a:solidFill>
                  <a:srgbClr val="70DDD6"/>
                </a:solidFill>
                <a:latin typeface="Segoe UI"/>
                <a:ea typeface="Segoe UI"/>
                <a:cs typeface="Segoe UI"/>
              </a:defRPr>
            </a:pPr>
            <a:r>
              <a:rPr sz="1350" b="1">
                <a:solidFill>
                  <a:srgbClr val="70DDD6"/>
                </a:solidFill>
                <a:latin typeface="Segoe UI"/>
                <a:ea typeface="Segoe UI"/>
                <a:cs typeface="Segoe UI"/>
              </a:rPr>
              <a:t>HOW IT WORKS</a:t>
            </a:r>
          </a:p>
        </p:txBody>
      </p:sp>
      <p:sp>
        <p:nvSpPr>
          <p:cNvPr id="2" name="03">
            <a:extLst xmlns:a="http://schemas.openxmlformats.org/drawingml/2006/main">
              <a:ext uri="{FF2B5EF4-FFF2-40B4-BE49-F238E27FC236}">
                <a16:creationId xmlns:a16="http://schemas.microsoft.com/office/drawing/2014/main" id="{AA942902-5853-487D-A2A5-DB590F38A773}"/>
              </a:ext>
            </a:extLst>
          </p:cNvPr>
          <p:cNvSpPr>
            <a:spLocks xmlns:a="http://schemas.openxmlformats.org/drawingml/2006/main" noGrp="1"/>
          </p:cNvSpPr>
          <p:nvPr/>
        </p:nvSpPr>
        <p:spPr>
          <a:xfrm xmlns:a="http://schemas.openxmlformats.org/drawingml/2006/main">
            <a:off x="11058525" y="6238875"/>
            <a:ext cx="514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BBCAD0"/>
                </a:solidFill>
                <a:latin typeface="Segoe UI"/>
                <a:ea typeface="Segoe UI"/>
                <a:cs typeface="Segoe UI"/>
              </a:defRPr>
            </a:pPr>
            <a:r>
              <a:rPr sz="1275" b="0">
                <a:solidFill>
                  <a:srgbClr val="BBCAD0"/>
                </a:solidFill>
                <a:latin typeface="Segoe UI"/>
                <a:ea typeface="Segoe UI"/>
                <a:cs typeface="Segoe UI"/>
              </a:rPr>
              <a:t>03</a:t>
            </a:r>
          </a:p>
        </p:txBody>
      </p:sp>
      <p:sp>
        <p:nvSpPr>
          <p:cNvPr id="3" name="Existing run outputs become a connected view">
            <a:extLst xmlns:a="http://schemas.openxmlformats.org/drawingml/2006/main">
              <a:ext uri="{FF2B5EF4-FFF2-40B4-BE49-F238E27FC236}">
                <a16:creationId xmlns:a16="http://schemas.microsoft.com/office/drawing/2014/main" id="{26E0E5E7-6C3E-45EE-B4E8-55905A65C5A0}"/>
              </a:ext>
            </a:extLst>
          </p:cNvPr>
          <p:cNvSpPr>
            <a:spLocks xmlns:a="http://schemas.openxmlformats.org/drawingml/2006/main" noGrp="1"/>
          </p:cNvSpPr>
          <p:nvPr/>
        </p:nvSpPr>
        <p:spPr>
          <a:xfrm xmlns:a="http://schemas.openxmlformats.org/drawingml/2006/main">
            <a:off x="657225" y="1066800"/>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FFFFFF"/>
                </a:solidFill>
                <a:latin typeface="Segoe UI"/>
                <a:ea typeface="Segoe UI"/>
                <a:cs typeface="Segoe UI"/>
              </a:defRPr>
            </a:pPr>
            <a:r>
              <a:rPr sz="3450" b="1">
                <a:solidFill>
                  <a:srgbClr val="FFFFFF"/>
                </a:solidFill>
                <a:latin typeface="Segoe UI"/>
                <a:ea typeface="Segoe UI"/>
                <a:cs typeface="Segoe UI"/>
              </a:rPr>
              <a:t>Existing run outputs become a connected view</a:t>
            </a:r>
          </a:p>
        </p:txBody>
      </p:sp>
      <p:sp>
        <p:nvSpPr>
          <p:cNvPr id="4" name="01">
            <a:extLst xmlns:a="http://schemas.openxmlformats.org/drawingml/2006/main">
              <a:ext uri="{FF2B5EF4-FFF2-40B4-BE49-F238E27FC236}">
                <a16:creationId xmlns:a16="http://schemas.microsoft.com/office/drawing/2014/main" id="{44A7BE7E-9753-4349-80E8-4891D85D8F34}"/>
              </a:ext>
            </a:extLst>
          </p:cNvPr>
          <p:cNvSpPr>
            <a:spLocks xmlns:a="http://schemas.openxmlformats.org/drawingml/2006/main" noGrp="1"/>
          </p:cNvSpPr>
          <p:nvPr/>
        </p:nvSpPr>
        <p:spPr>
          <a:xfrm xmlns:a="http://schemas.openxmlformats.org/drawingml/2006/main">
            <a:off x="695325" y="2305050"/>
            <a:ext cx="24288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875" b="0">
                <a:solidFill>
                  <a:srgbClr val="36515E"/>
                </a:solidFill>
                <a:latin typeface="Segoe UI Light"/>
                <a:ea typeface="Segoe UI Light"/>
                <a:cs typeface="Segoe UI Light"/>
              </a:defRPr>
            </a:pPr>
            <a:r>
              <a:rPr sz="4875" b="0">
                <a:solidFill>
                  <a:srgbClr val="36515E"/>
                </a:solidFill>
                <a:latin typeface="Segoe UI Light"/>
                <a:ea typeface="Segoe UI Light"/>
                <a:cs typeface="Segoe UI Light"/>
              </a:rPr>
              <a:t>01</a:t>
            </a:r>
          </a:p>
        </p:txBody>
      </p:sp>
      <p:sp>
        <p:nvSpPr>
          <p:cNvPr id="5" name="Discover">
            <a:extLst xmlns:a="http://schemas.openxmlformats.org/drawingml/2006/main">
              <a:ext uri="{FF2B5EF4-FFF2-40B4-BE49-F238E27FC236}">
                <a16:creationId xmlns:a16="http://schemas.microsoft.com/office/drawing/2014/main" id="{5828CDA1-55B6-44AB-B231-A1999D843100}"/>
              </a:ext>
            </a:extLst>
          </p:cNvPr>
          <p:cNvSpPr>
            <a:spLocks xmlns:a="http://schemas.openxmlformats.org/drawingml/2006/main" noGrp="1"/>
          </p:cNvSpPr>
          <p:nvPr/>
        </p:nvSpPr>
        <p:spPr>
          <a:xfrm xmlns:a="http://schemas.openxmlformats.org/drawingml/2006/main">
            <a:off x="695325" y="3257550"/>
            <a:ext cx="24288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70DDD6"/>
                </a:solidFill>
                <a:latin typeface="Segoe UI"/>
                <a:ea typeface="Segoe UI"/>
                <a:cs typeface="Segoe UI"/>
              </a:defRPr>
            </a:pPr>
            <a:r>
              <a:rPr sz="2550" b="1">
                <a:solidFill>
                  <a:srgbClr val="70DDD6"/>
                </a:solidFill>
                <a:latin typeface="Segoe UI"/>
                <a:ea typeface="Segoe UI"/>
                <a:cs typeface="Segoe UI"/>
              </a:rPr>
              <a:t>Discover</a:t>
            </a:r>
          </a:p>
        </p:txBody>
      </p:sp>
      <p:sp>
        <p:nvSpPr>
          <p:cNvPr id="6" name="Scan workspace and">
            <a:extLst xmlns:a="http://schemas.openxmlformats.org/drawingml/2006/main">
              <a:ext uri="{FF2B5EF4-FFF2-40B4-BE49-F238E27FC236}">
                <a16:creationId xmlns:a16="http://schemas.microsoft.com/office/drawing/2014/main" id="{372DD855-1544-4149-9D47-C9EBFB2B12BC}"/>
              </a:ext>
            </a:extLst>
          </p:cNvPr>
          <p:cNvSpPr>
            <a:spLocks xmlns:a="http://schemas.openxmlformats.org/drawingml/2006/main" noGrp="1"/>
          </p:cNvSpPr>
          <p:nvPr/>
        </p:nvSpPr>
        <p:spPr>
          <a:xfrm xmlns:a="http://schemas.openxmlformats.org/drawingml/2006/main">
            <a:off x="695325" y="3943350"/>
            <a:ext cx="2476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FFFFFF"/>
                </a:solidFill>
                <a:latin typeface="Segoe UI"/>
                <a:ea typeface="Segoe UI"/>
                <a:cs typeface="Segoe UI"/>
              </a:defRPr>
            </a:pPr>
            <a:r>
              <a:rPr sz="1875" b="0">
                <a:solidFill>
                  <a:srgbClr val="FFFFFF"/>
                </a:solidFill>
                <a:latin typeface="Segoe UI"/>
                <a:ea typeface="Segoe UI"/>
                <a:cs typeface="Segoe UI"/>
              </a:rPr>
              <a:t>Scan workspace and</a:t>
            </a:r>
          </a:p>
          <a:p xmlns:a="http://schemas.openxmlformats.org/drawingml/2006/main">
            <a:pPr>
              <a:buNone/>
              <a:defRPr sz="1875" b="0">
                <a:solidFill>
                  <a:srgbClr val="FFFFFF"/>
                </a:solidFill>
                <a:latin typeface="Segoe UI"/>
                <a:ea typeface="Segoe UI"/>
                <a:cs typeface="Segoe UI"/>
              </a:defRPr>
            </a:pPr>
            <a:r>
              <a:rPr sz="1875" b="0">
                <a:solidFill>
                  <a:srgbClr val="FFFFFF"/>
                </a:solidFill>
                <a:latin typeface="Segoe UI"/>
                <a:ea typeface="Segoe UI"/>
                <a:cs typeface="Segoe UI"/>
              </a:rPr>
              <a:t>published OUTFEED</a:t>
            </a:r>
          </a:p>
          <a:p xmlns:a="http://schemas.openxmlformats.org/drawingml/2006/main">
            <a:pPr>
              <a:buNone/>
              <a:defRPr sz="1875" b="0">
                <a:solidFill>
                  <a:srgbClr val="FFFFFF"/>
                </a:solidFill>
                <a:latin typeface="Segoe UI"/>
                <a:ea typeface="Segoe UI"/>
                <a:cs typeface="Segoe UI"/>
              </a:defRPr>
            </a:pPr>
            <a:r>
              <a:rPr sz="1875" b="0">
                <a:solidFill>
                  <a:srgbClr val="FFFFFF"/>
                </a:solidFill>
                <a:latin typeface="Segoe UI"/>
                <a:ea typeface="Segoe UI"/>
                <a:cs typeface="Segoe UI"/>
              </a:rPr>
              <a:t>run directories.</a:t>
            </a:r>
          </a:p>
        </p:txBody>
      </p:sp>
      <p:sp>
        <p:nvSpPr>
          <p:cNvPr id="7" name="02">
            <a:extLst xmlns:a="http://schemas.openxmlformats.org/drawingml/2006/main">
              <a:ext uri="{FF2B5EF4-FFF2-40B4-BE49-F238E27FC236}">
                <a16:creationId xmlns:a16="http://schemas.microsoft.com/office/drawing/2014/main" id="{4DEB7F97-07F6-425A-AF5A-785CBA92756C}"/>
              </a:ext>
            </a:extLst>
          </p:cNvPr>
          <p:cNvSpPr>
            <a:spLocks xmlns:a="http://schemas.openxmlformats.org/drawingml/2006/main" noGrp="1"/>
          </p:cNvSpPr>
          <p:nvPr/>
        </p:nvSpPr>
        <p:spPr>
          <a:xfrm xmlns:a="http://schemas.openxmlformats.org/drawingml/2006/main">
            <a:off x="3543300" y="2305050"/>
            <a:ext cx="24288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875" b="0">
                <a:solidFill>
                  <a:srgbClr val="36515E"/>
                </a:solidFill>
                <a:latin typeface="Segoe UI Light"/>
                <a:ea typeface="Segoe UI Light"/>
                <a:cs typeface="Segoe UI Light"/>
              </a:defRPr>
            </a:pPr>
            <a:r>
              <a:rPr sz="4875" b="0">
                <a:solidFill>
                  <a:srgbClr val="36515E"/>
                </a:solidFill>
                <a:latin typeface="Segoe UI Light"/>
                <a:ea typeface="Segoe UI Light"/>
                <a:cs typeface="Segoe UI Light"/>
              </a:rPr>
              <a:t>02</a:t>
            </a:r>
          </a:p>
        </p:txBody>
      </p:sp>
      <p:sp>
        <p:nvSpPr>
          <p:cNvPr id="8" name="Connect">
            <a:extLst xmlns:a="http://schemas.openxmlformats.org/drawingml/2006/main">
              <a:ext uri="{FF2B5EF4-FFF2-40B4-BE49-F238E27FC236}">
                <a16:creationId xmlns:a16="http://schemas.microsoft.com/office/drawing/2014/main" id="{D050CBB9-7A1D-41C6-AC78-219ACA5E0B83}"/>
              </a:ext>
            </a:extLst>
          </p:cNvPr>
          <p:cNvSpPr>
            <a:spLocks xmlns:a="http://schemas.openxmlformats.org/drawingml/2006/main" noGrp="1"/>
          </p:cNvSpPr>
          <p:nvPr/>
        </p:nvSpPr>
        <p:spPr>
          <a:xfrm xmlns:a="http://schemas.openxmlformats.org/drawingml/2006/main">
            <a:off x="3543300" y="3257550"/>
            <a:ext cx="24288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70DDD6"/>
                </a:solidFill>
                <a:latin typeface="Segoe UI"/>
                <a:ea typeface="Segoe UI"/>
                <a:cs typeface="Segoe UI"/>
              </a:defRPr>
            </a:pPr>
            <a:r>
              <a:rPr sz="2550" b="1">
                <a:solidFill>
                  <a:srgbClr val="70DDD6"/>
                </a:solidFill>
                <a:latin typeface="Segoe UI"/>
                <a:ea typeface="Segoe UI"/>
                <a:cs typeface="Segoe UI"/>
              </a:rPr>
              <a:t>Connect</a:t>
            </a:r>
          </a:p>
        </p:txBody>
      </p:sp>
      <p:sp>
        <p:nvSpPr>
          <p:cNvPr id="9" name="Group RTL releases">
            <a:extLst xmlns:a="http://schemas.openxmlformats.org/drawingml/2006/main">
              <a:ext uri="{FF2B5EF4-FFF2-40B4-BE49-F238E27FC236}">
                <a16:creationId xmlns:a16="http://schemas.microsoft.com/office/drawing/2014/main" id="{915778FE-4DA2-4169-8897-87714497CD49}"/>
              </a:ext>
            </a:extLst>
          </p:cNvPr>
          <p:cNvSpPr>
            <a:spLocks xmlns:a="http://schemas.openxmlformats.org/drawingml/2006/main" noGrp="1"/>
          </p:cNvSpPr>
          <p:nvPr/>
        </p:nvSpPr>
        <p:spPr>
          <a:xfrm xmlns:a="http://schemas.openxmlformats.org/drawingml/2006/main">
            <a:off x="3543300" y="3943350"/>
            <a:ext cx="2476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FFFFFF"/>
                </a:solidFill>
                <a:latin typeface="Segoe UI"/>
                <a:ea typeface="Segoe UI"/>
                <a:cs typeface="Segoe UI"/>
              </a:defRPr>
            </a:pPr>
            <a:r>
              <a:rPr sz="1875" b="0">
                <a:solidFill>
                  <a:srgbClr val="FFFFFF"/>
                </a:solidFill>
                <a:latin typeface="Segoe UI"/>
                <a:ea typeface="Segoe UI"/>
                <a:cs typeface="Segoe UI"/>
              </a:rPr>
              <a:t>Group RTL releases</a:t>
            </a:r>
          </a:p>
          <a:p xmlns:a="http://schemas.openxmlformats.org/drawingml/2006/main">
            <a:pPr>
              <a:buNone/>
              <a:defRPr sz="1875" b="0">
                <a:solidFill>
                  <a:srgbClr val="FFFFFF"/>
                </a:solidFill>
                <a:latin typeface="Segoe UI"/>
                <a:ea typeface="Segoe UI"/>
                <a:cs typeface="Segoe UI"/>
              </a:defRPr>
            </a:pPr>
            <a:r>
              <a:rPr sz="1875" b="0">
                <a:solidFill>
                  <a:srgbClr val="FFFFFF"/>
                </a:solidFill>
                <a:latin typeface="Segoe UI"/>
                <a:ea typeface="Segoe UI"/>
                <a:cs typeface="Segoe UI"/>
              </a:rPr>
              <a:t>and blocks, then link</a:t>
            </a:r>
          </a:p>
          <a:p xmlns:a="http://schemas.openxmlformats.org/drawingml/2006/main">
            <a:pPr>
              <a:buNone/>
              <a:defRPr sz="1875" b="0">
                <a:solidFill>
                  <a:srgbClr val="FFFFFF"/>
                </a:solidFill>
                <a:latin typeface="Segoe UI"/>
                <a:ea typeface="Segoe UI"/>
                <a:cs typeface="Segoe UI"/>
              </a:defRPr>
            </a:pPr>
            <a:r>
              <a:rPr sz="1875" b="0">
                <a:solidFill>
                  <a:srgbClr val="FFFFFF"/>
                </a:solidFill>
                <a:latin typeface="Segoe UI"/>
                <a:ea typeface="Segoe UI"/>
                <a:cs typeface="Segoe UI"/>
              </a:rPr>
              <a:t>FE runs to BE stages.</a:t>
            </a:r>
          </a:p>
        </p:txBody>
      </p:sp>
      <p:sp>
        <p:nvSpPr>
          <p:cNvPr id="10" name="03">
            <a:extLst xmlns:a="http://schemas.openxmlformats.org/drawingml/2006/main">
              <a:ext uri="{FF2B5EF4-FFF2-40B4-BE49-F238E27FC236}">
                <a16:creationId xmlns:a16="http://schemas.microsoft.com/office/drawing/2014/main" id="{8E632F5F-E10A-4645-A8FA-0B1E80D6999E}"/>
              </a:ext>
            </a:extLst>
          </p:cNvPr>
          <p:cNvSpPr>
            <a:spLocks xmlns:a="http://schemas.openxmlformats.org/drawingml/2006/main" noGrp="1"/>
          </p:cNvSpPr>
          <p:nvPr/>
        </p:nvSpPr>
        <p:spPr>
          <a:xfrm xmlns:a="http://schemas.openxmlformats.org/drawingml/2006/main">
            <a:off x="6391275" y="2305050"/>
            <a:ext cx="24288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875" b="0">
                <a:solidFill>
                  <a:srgbClr val="36515E"/>
                </a:solidFill>
                <a:latin typeface="Segoe UI Light"/>
                <a:ea typeface="Segoe UI Light"/>
                <a:cs typeface="Segoe UI Light"/>
              </a:defRPr>
            </a:pPr>
            <a:r>
              <a:rPr sz="4875" b="0">
                <a:solidFill>
                  <a:srgbClr val="36515E"/>
                </a:solidFill>
                <a:latin typeface="Segoe UI Light"/>
                <a:ea typeface="Segoe UI Light"/>
                <a:cs typeface="Segoe UI Light"/>
              </a:rPr>
              <a:t>03</a:t>
            </a:r>
          </a:p>
        </p:txBody>
      </p:sp>
      <p:sp>
        <p:nvSpPr>
          <p:cNvPr id="11" name="Track">
            <a:extLst xmlns:a="http://schemas.openxmlformats.org/drawingml/2006/main">
              <a:ext uri="{FF2B5EF4-FFF2-40B4-BE49-F238E27FC236}">
                <a16:creationId xmlns:a16="http://schemas.microsoft.com/office/drawing/2014/main" id="{00EC65D9-2C2B-4F24-9655-C56F77033352}"/>
              </a:ext>
            </a:extLst>
          </p:cNvPr>
          <p:cNvSpPr>
            <a:spLocks xmlns:a="http://schemas.openxmlformats.org/drawingml/2006/main" noGrp="1"/>
          </p:cNvSpPr>
          <p:nvPr/>
        </p:nvSpPr>
        <p:spPr>
          <a:xfrm xmlns:a="http://schemas.openxmlformats.org/drawingml/2006/main">
            <a:off x="6391275" y="3257550"/>
            <a:ext cx="24288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70DDD6"/>
                </a:solidFill>
                <a:latin typeface="Segoe UI"/>
                <a:ea typeface="Segoe UI"/>
                <a:cs typeface="Segoe UI"/>
              </a:defRPr>
            </a:pPr>
            <a:r>
              <a:rPr sz="2550" b="1">
                <a:solidFill>
                  <a:srgbClr val="70DDD6"/>
                </a:solidFill>
                <a:latin typeface="Segoe UI"/>
                <a:ea typeface="Segoe UI"/>
                <a:cs typeface="Segoe UI"/>
              </a:rPr>
              <a:t>Track</a:t>
            </a:r>
          </a:p>
        </p:txBody>
      </p:sp>
      <p:sp>
        <p:nvSpPr>
          <p:cNvPr id="12" name="Read run status,">
            <a:extLst xmlns:a="http://schemas.openxmlformats.org/drawingml/2006/main">
              <a:ext uri="{FF2B5EF4-FFF2-40B4-BE49-F238E27FC236}">
                <a16:creationId xmlns:a16="http://schemas.microsoft.com/office/drawing/2014/main" id="{76E0776F-EEA6-4AEA-A0E6-F4466CD54F26}"/>
              </a:ext>
            </a:extLst>
          </p:cNvPr>
          <p:cNvSpPr>
            <a:spLocks xmlns:a="http://schemas.openxmlformats.org/drawingml/2006/main" noGrp="1"/>
          </p:cNvSpPr>
          <p:nvPr/>
        </p:nvSpPr>
        <p:spPr>
          <a:xfrm xmlns:a="http://schemas.openxmlformats.org/drawingml/2006/main">
            <a:off x="6391275" y="3943350"/>
            <a:ext cx="2476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FFFFFF"/>
                </a:solidFill>
                <a:latin typeface="Segoe UI"/>
                <a:ea typeface="Segoe UI"/>
                <a:cs typeface="Segoe UI"/>
              </a:defRPr>
            </a:pPr>
            <a:r>
              <a:rPr sz="1875" b="0">
                <a:solidFill>
                  <a:srgbClr val="FFFFFF"/>
                </a:solidFill>
                <a:latin typeface="Segoe UI"/>
                <a:ea typeface="Segoe UI"/>
                <a:cs typeface="Segoe UI"/>
              </a:rPr>
              <a:t>Read run status,</a:t>
            </a:r>
          </a:p>
          <a:p xmlns:a="http://schemas.openxmlformats.org/drawingml/2006/main">
            <a:pPr>
              <a:buNone/>
              <a:defRPr sz="1875" b="0">
                <a:solidFill>
                  <a:srgbClr val="FFFFFF"/>
                </a:solidFill>
                <a:latin typeface="Segoe UI"/>
                <a:ea typeface="Segoe UI"/>
                <a:cs typeface="Segoe UI"/>
              </a:defRPr>
            </a:pPr>
            <a:r>
              <a:rPr sz="1875" b="0">
                <a:solidFill>
                  <a:srgbClr val="FFFFFF"/>
                </a:solidFill>
                <a:latin typeface="Segoe UI"/>
                <a:ea typeface="Segoe UI"/>
                <a:cs typeface="Segoe UI"/>
              </a:rPr>
              <a:t>start/end timestamps</a:t>
            </a:r>
          </a:p>
          <a:p xmlns:a="http://schemas.openxmlformats.org/drawingml/2006/main">
            <a:pPr>
              <a:buNone/>
              <a:defRPr sz="1875" b="0">
                <a:solidFill>
                  <a:srgbClr val="FFFFFF"/>
                </a:solidFill>
                <a:latin typeface="Segoe UI"/>
                <a:ea typeface="Segoe UI"/>
                <a:cs typeface="Segoe UI"/>
              </a:defRPr>
            </a:pPr>
            <a:r>
              <a:rPr sz="1875" b="0">
                <a:solidFill>
                  <a:srgbClr val="FFFFFF"/>
                </a:solidFill>
                <a:latin typeface="Segoe UI"/>
                <a:ea typeface="Segoe UI"/>
                <a:cs typeface="Segoe UI"/>
              </a:rPr>
              <a:t>and stage runtime.</a:t>
            </a:r>
          </a:p>
        </p:txBody>
      </p:sp>
      <p:sp>
        <p:nvSpPr>
          <p:cNvPr id="13" name="04">
            <a:extLst xmlns:a="http://schemas.openxmlformats.org/drawingml/2006/main">
              <a:ext uri="{FF2B5EF4-FFF2-40B4-BE49-F238E27FC236}">
                <a16:creationId xmlns:a16="http://schemas.microsoft.com/office/drawing/2014/main" id="{0AB0DBE2-7091-4ED0-AD86-844519B6EC95}"/>
              </a:ext>
            </a:extLst>
          </p:cNvPr>
          <p:cNvSpPr>
            <a:spLocks xmlns:a="http://schemas.openxmlformats.org/drawingml/2006/main" noGrp="1"/>
          </p:cNvSpPr>
          <p:nvPr/>
        </p:nvSpPr>
        <p:spPr>
          <a:xfrm xmlns:a="http://schemas.openxmlformats.org/drawingml/2006/main">
            <a:off x="9239250" y="2305050"/>
            <a:ext cx="24288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875" b="0">
                <a:solidFill>
                  <a:srgbClr val="36515E"/>
                </a:solidFill>
                <a:latin typeface="Segoe UI Light"/>
                <a:ea typeface="Segoe UI Light"/>
                <a:cs typeface="Segoe UI Light"/>
              </a:defRPr>
            </a:pPr>
            <a:r>
              <a:rPr sz="4875" b="0">
                <a:solidFill>
                  <a:srgbClr val="36515E"/>
                </a:solidFill>
                <a:latin typeface="Segoe UI Light"/>
                <a:ea typeface="Segoe UI Light"/>
                <a:cs typeface="Segoe UI Light"/>
              </a:rPr>
              <a:t>04</a:t>
            </a:r>
          </a:p>
        </p:txBody>
      </p:sp>
      <p:sp>
        <p:nvSpPr>
          <p:cNvPr id="14" name="Compare">
            <a:extLst xmlns:a="http://schemas.openxmlformats.org/drawingml/2006/main">
              <a:ext uri="{FF2B5EF4-FFF2-40B4-BE49-F238E27FC236}">
                <a16:creationId xmlns:a16="http://schemas.microsoft.com/office/drawing/2014/main" id="{300707C5-C14B-42CE-A946-82AD07A10A16}"/>
              </a:ext>
            </a:extLst>
          </p:cNvPr>
          <p:cNvSpPr>
            <a:spLocks xmlns:a="http://schemas.openxmlformats.org/drawingml/2006/main" noGrp="1"/>
          </p:cNvSpPr>
          <p:nvPr/>
        </p:nvSpPr>
        <p:spPr>
          <a:xfrm xmlns:a="http://schemas.openxmlformats.org/drawingml/2006/main">
            <a:off x="9239250" y="3257550"/>
            <a:ext cx="24288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70DDD6"/>
                </a:solidFill>
                <a:latin typeface="Segoe UI"/>
                <a:ea typeface="Segoe UI"/>
                <a:cs typeface="Segoe UI"/>
              </a:defRPr>
            </a:pPr>
            <a:r>
              <a:rPr sz="2550" b="1">
                <a:solidFill>
                  <a:srgbClr val="70DDD6"/>
                </a:solidFill>
                <a:latin typeface="Segoe UI"/>
                <a:ea typeface="Segoe UI"/>
                <a:cs typeface="Segoe UI"/>
              </a:rPr>
              <a:t>Compare</a:t>
            </a:r>
          </a:p>
        </p:txBody>
      </p:sp>
      <p:sp>
        <p:nvSpPr>
          <p:cNvPr id="15" name="Review selected runs,">
            <a:extLst xmlns:a="http://schemas.openxmlformats.org/drawingml/2006/main">
              <a:ext uri="{FF2B5EF4-FFF2-40B4-BE49-F238E27FC236}">
                <a16:creationId xmlns:a16="http://schemas.microsoft.com/office/drawing/2014/main" id="{6494645C-DDCE-438B-B5AB-E18464B78009}"/>
              </a:ext>
            </a:extLst>
          </p:cNvPr>
          <p:cNvSpPr>
            <a:spLocks xmlns:a="http://schemas.openxmlformats.org/drawingml/2006/main" noGrp="1"/>
          </p:cNvSpPr>
          <p:nvPr/>
        </p:nvSpPr>
        <p:spPr>
          <a:xfrm xmlns:a="http://schemas.openxmlformats.org/drawingml/2006/main">
            <a:off x="9239250" y="3943350"/>
            <a:ext cx="2476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FFFFFF"/>
                </a:solidFill>
                <a:latin typeface="Segoe UI"/>
                <a:ea typeface="Segoe UI"/>
                <a:cs typeface="Segoe UI"/>
              </a:defRPr>
            </a:pPr>
            <a:r>
              <a:rPr sz="1875" b="0">
                <a:solidFill>
                  <a:srgbClr val="FFFFFF"/>
                </a:solidFill>
                <a:latin typeface="Segoe UI"/>
                <a:ea typeface="Segoe UI"/>
                <a:cs typeface="Segoe UI"/>
              </a:rPr>
              <a:t>Review selected runs,</a:t>
            </a:r>
          </a:p>
          <a:p xmlns:a="http://schemas.openxmlformats.org/drawingml/2006/main">
            <a:pPr>
              <a:buNone/>
              <a:defRPr sz="1875" b="0">
                <a:solidFill>
                  <a:srgbClr val="FFFFFF"/>
                </a:solidFill>
                <a:latin typeface="Segoe UI"/>
                <a:ea typeface="Segoe UI"/>
                <a:cs typeface="Segoe UI"/>
              </a:defRPr>
            </a:pPr>
            <a:r>
              <a:rPr sz="1875" b="0">
                <a:solidFill>
                  <a:srgbClr val="FFFFFF"/>
                </a:solidFill>
                <a:latin typeface="Segoe UI"/>
                <a:ea typeface="Segoe UI"/>
                <a:cs typeface="Segoe UI"/>
              </a:rPr>
              <a:t>run-over-run changes</a:t>
            </a:r>
          </a:p>
          <a:p xmlns:a="http://schemas.openxmlformats.org/drawingml/2006/main">
            <a:pPr>
              <a:buNone/>
              <a:defRPr sz="1875" b="0">
                <a:solidFill>
                  <a:srgbClr val="FFFFFF"/>
                </a:solidFill>
                <a:latin typeface="Segoe UI"/>
                <a:ea typeface="Segoe UI"/>
                <a:cs typeface="Segoe UI"/>
              </a:defRPr>
            </a:pPr>
            <a:r>
              <a:rPr sz="1875" b="0">
                <a:solidFill>
                  <a:srgbClr val="FFFFFF"/>
                </a:solidFill>
                <a:latin typeface="Segoe UI"/>
                <a:ea typeface="Segoe UI"/>
                <a:cs typeface="Segoe UI"/>
              </a:rPr>
              <a:t>and golden baselines.</a:t>
            </a:r>
          </a:p>
        </p:txBody>
      </p:sp>
      <p:sp>
        <p:nvSpPr>
          <p:cNvPr id="16" name="One hierarchy preserves the connection between a synthe">
            <a:extLst xmlns:a="http://schemas.openxmlformats.org/drawingml/2006/main">
              <a:ext uri="{FF2B5EF4-FFF2-40B4-BE49-F238E27FC236}">
                <a16:creationId xmlns:a16="http://schemas.microsoft.com/office/drawing/2014/main" id="{5A609815-A5EB-44A8-99EA-0F3FEBA78FA3}"/>
              </a:ext>
            </a:extLst>
          </p:cNvPr>
          <p:cNvSpPr>
            <a:spLocks xmlns:a="http://schemas.openxmlformats.org/drawingml/2006/main" noGrp="1"/>
          </p:cNvSpPr>
          <p:nvPr/>
        </p:nvSpPr>
        <p:spPr>
          <a:xfrm xmlns:a="http://schemas.openxmlformats.org/drawingml/2006/main">
            <a:off x="704850" y="5724525"/>
            <a:ext cx="10715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BBCAD0"/>
                </a:solidFill>
                <a:latin typeface="Segoe UI"/>
                <a:ea typeface="Segoe UI"/>
                <a:cs typeface="Segoe UI"/>
              </a:defRPr>
            </a:pPr>
            <a:r>
              <a:rPr sz="1875" b="0">
                <a:solidFill>
                  <a:srgbClr val="BBCAD0"/>
                </a:solidFill>
                <a:latin typeface="Segoe UI"/>
                <a:ea typeface="Segoe UI"/>
                <a:cs typeface="Segoe UI"/>
              </a:rPr>
              <a:t>One hierarchy preserves the connection between a synthesis run and its PNR stages</a:t>
            </a:r>
          </a:p>
        </p:txBody>
      </p:sp>
    </p:spTree>
    <p:extLst>
      <p:ext uri="{BB962C8B-B14F-4D97-AF65-F5344CB8AC3E}">
        <p14:creationId xmlns:p14="http://schemas.microsoft.com/office/powerpoint/2010/main" val="2055211728"/>
      </p:ext>
    </p:extLst>
  </p:cSld>
</p:sld>
</file>

<file path=ppt/slides/slide4.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12" name="VALUE TO THE TEAM">
            <a:extLst xmlns:a="http://schemas.openxmlformats.org/drawingml/2006/main">
              <a:ext uri="{FF2B5EF4-FFF2-40B4-BE49-F238E27FC236}">
                <a16:creationId xmlns:a16="http://schemas.microsoft.com/office/drawing/2014/main" id="{C1F09534-5293-4435-A4DD-CCF1BDE57222}"/>
              </a:ext>
            </a:extLst>
          </p:cNvPr>
          <p:cNvSpPr>
            <a:spLocks xmlns:a="http://schemas.openxmlformats.org/drawingml/2006/main" noGrp="1"/>
          </p:cNvSpPr>
          <p:nvPr/>
        </p:nvSpPr>
        <p:spPr>
          <a:xfrm xmlns:a="http://schemas.openxmlformats.org/drawingml/2006/main">
            <a:off x="685800" y="466725"/>
            <a:ext cx="971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1">
                <a:solidFill>
                  <a:srgbClr val="007F88"/>
                </a:solidFill>
                <a:latin typeface="Segoe UI"/>
                <a:ea typeface="Segoe UI"/>
                <a:cs typeface="Segoe UI"/>
              </a:defRPr>
            </a:pPr>
            <a:r>
              <a:rPr sz="1350" b="1">
                <a:solidFill>
                  <a:srgbClr val="007F88"/>
                </a:solidFill>
                <a:latin typeface="Segoe UI"/>
                <a:ea typeface="Segoe UI"/>
                <a:cs typeface="Segoe UI"/>
              </a:rPr>
              <a:t>VALUE TO THE TEAM</a:t>
            </a:r>
          </a:p>
        </p:txBody>
      </p:sp>
      <p:sp>
        <p:nvSpPr>
          <p:cNvPr id="2" name="04">
            <a:extLst xmlns:a="http://schemas.openxmlformats.org/drawingml/2006/main">
              <a:ext uri="{FF2B5EF4-FFF2-40B4-BE49-F238E27FC236}">
                <a16:creationId xmlns:a16="http://schemas.microsoft.com/office/drawing/2014/main" id="{20A7614A-D4C5-4547-90A8-D35F5C0B5186}"/>
              </a:ext>
            </a:extLst>
          </p:cNvPr>
          <p:cNvSpPr>
            <a:spLocks xmlns:a="http://schemas.openxmlformats.org/drawingml/2006/main" noGrp="1"/>
          </p:cNvSpPr>
          <p:nvPr/>
        </p:nvSpPr>
        <p:spPr>
          <a:xfrm xmlns:a="http://schemas.openxmlformats.org/drawingml/2006/main">
            <a:off x="11058525" y="6238875"/>
            <a:ext cx="514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2646C"/>
                </a:solidFill>
                <a:latin typeface="Segoe UI"/>
                <a:ea typeface="Segoe UI"/>
                <a:cs typeface="Segoe UI"/>
              </a:defRPr>
            </a:pPr>
            <a:r>
              <a:rPr sz="1275" b="0">
                <a:solidFill>
                  <a:srgbClr val="52646C"/>
                </a:solidFill>
                <a:latin typeface="Segoe UI"/>
                <a:ea typeface="Segoe UI"/>
                <a:cs typeface="Segoe UI"/>
              </a:rPr>
              <a:t>04</a:t>
            </a:r>
          </a:p>
        </p:txBody>
      </p:sp>
      <p:sp>
        <p:nvSpPr>
          <p:cNvPr id="3" name="Clearer answers in every run review">
            <a:extLst xmlns:a="http://schemas.openxmlformats.org/drawingml/2006/main">
              <a:ext uri="{FF2B5EF4-FFF2-40B4-BE49-F238E27FC236}">
                <a16:creationId xmlns:a16="http://schemas.microsoft.com/office/drawing/2014/main" id="{5C210624-FD31-4048-8A69-B53988F809A4}"/>
              </a:ext>
            </a:extLst>
          </p:cNvPr>
          <p:cNvSpPr>
            <a:spLocks xmlns:a="http://schemas.openxmlformats.org/drawingml/2006/main" noGrp="1"/>
          </p:cNvSpPr>
          <p:nvPr/>
        </p:nvSpPr>
        <p:spPr>
          <a:xfrm xmlns:a="http://schemas.openxmlformats.org/drawingml/2006/main">
            <a:off x="666750" y="1057275"/>
            <a:ext cx="10953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750" b="1">
                <a:solidFill>
                  <a:srgbClr val="102A36"/>
                </a:solidFill>
                <a:latin typeface="Segoe UI"/>
                <a:ea typeface="Segoe UI"/>
                <a:cs typeface="Segoe UI"/>
              </a:defRPr>
            </a:pPr>
            <a:r>
              <a:rPr sz="3750" b="1">
                <a:solidFill>
                  <a:srgbClr val="102A36"/>
                </a:solidFill>
                <a:latin typeface="Segoe UI"/>
                <a:ea typeface="Segoe UI"/>
                <a:cs typeface="Segoe UI"/>
              </a:rPr>
              <a:t>Clearer answers in every run review</a:t>
            </a:r>
          </a:p>
        </p:txBody>
      </p:sp>
      <p:sp>
        <p:nvSpPr>
          <p:cNvPr id="4" name="Run status at a glance">
            <a:extLst xmlns:a="http://schemas.openxmlformats.org/drawingml/2006/main">
              <a:ext uri="{FF2B5EF4-FFF2-40B4-BE49-F238E27FC236}">
                <a16:creationId xmlns:a16="http://schemas.microsoft.com/office/drawing/2014/main" id="{A3F352B3-C2AD-41F5-8619-CA3A904F4FC5}"/>
              </a:ext>
            </a:extLst>
          </p:cNvPr>
          <p:cNvSpPr>
            <a:spLocks xmlns:a="http://schemas.openxmlformats.org/drawingml/2006/main" noGrp="1"/>
          </p:cNvSpPr>
          <p:nvPr/>
        </p:nvSpPr>
        <p:spPr>
          <a:xfrm xmlns:a="http://schemas.openxmlformats.org/drawingml/2006/main">
            <a:off x="704850" y="2209800"/>
            <a:ext cx="52578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75" b="1">
                <a:solidFill>
                  <a:srgbClr val="007F88"/>
                </a:solidFill>
                <a:latin typeface="Segoe UI"/>
                <a:ea typeface="Segoe UI"/>
                <a:cs typeface="Segoe UI"/>
              </a:defRPr>
            </a:pPr>
            <a:r>
              <a:rPr sz="2475" b="1">
                <a:solidFill>
                  <a:srgbClr val="007F88"/>
                </a:solidFill>
                <a:latin typeface="Segoe UI"/>
                <a:ea typeface="Segoe UI"/>
                <a:cs typeface="Segoe UI"/>
              </a:rPr>
              <a:t>Run status at a glance</a:t>
            </a:r>
          </a:p>
        </p:txBody>
      </p:sp>
      <p:sp>
        <p:nvSpPr>
          <p:cNvPr id="5" name="See run and stage status">
            <a:extLst xmlns:a="http://schemas.openxmlformats.org/drawingml/2006/main">
              <a:ext uri="{FF2B5EF4-FFF2-40B4-BE49-F238E27FC236}">
                <a16:creationId xmlns:a16="http://schemas.microsoft.com/office/drawing/2014/main" id="{780BA869-8E43-4B3A-9134-BADFBF088BC0}"/>
              </a:ext>
            </a:extLst>
          </p:cNvPr>
          <p:cNvSpPr>
            <a:spLocks xmlns:a="http://schemas.openxmlformats.org/drawingml/2006/main" noGrp="1"/>
          </p:cNvSpPr>
          <p:nvPr/>
        </p:nvSpPr>
        <p:spPr>
          <a:xfrm xmlns:a="http://schemas.openxmlformats.org/drawingml/2006/main">
            <a:off x="6210300" y="2219325"/>
            <a:ext cx="5381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02A36"/>
                </a:solidFill>
                <a:latin typeface="Segoe UI"/>
                <a:ea typeface="Segoe UI"/>
                <a:cs typeface="Segoe UI"/>
              </a:defRPr>
            </a:pPr>
            <a:r>
              <a:rPr sz="1950" b="0">
                <a:solidFill>
                  <a:srgbClr val="102A36"/>
                </a:solidFill>
                <a:latin typeface="Segoe UI"/>
                <a:ea typeface="Segoe UI"/>
                <a:cs typeface="Segoe UI"/>
              </a:rPr>
              <a:t>See run and stage status</a:t>
            </a:r>
          </a:p>
          <a:p xmlns:a="http://schemas.openxmlformats.org/drawingml/2006/main">
            <a:pPr>
              <a:buNone/>
              <a:defRPr sz="1950" b="0">
                <a:solidFill>
                  <a:srgbClr val="102A36"/>
                </a:solidFill>
                <a:latin typeface="Segoe UI"/>
                <a:ea typeface="Segoe UI"/>
                <a:cs typeface="Segoe UI"/>
              </a:defRPr>
            </a:pPr>
            <a:r>
              <a:rPr sz="1950" b="0">
                <a:solidFill>
                  <a:srgbClr val="102A36"/>
                </a:solidFill>
                <a:latin typeface="Segoe UI"/>
                <a:ea typeface="Segoe UI"/>
                <a:cs typeface="Segoe UI"/>
              </a:rPr>
              <a:t>with RTL, block and owner context.</a:t>
            </a:r>
          </a:p>
        </p:txBody>
      </p:sp>
      <p:sp>
        <p:nvSpPr>
          <p:cNvPr id="6" name="TAT by run and stage">
            <a:extLst xmlns:a="http://schemas.openxmlformats.org/drawingml/2006/main">
              <a:ext uri="{FF2B5EF4-FFF2-40B4-BE49-F238E27FC236}">
                <a16:creationId xmlns:a16="http://schemas.microsoft.com/office/drawing/2014/main" id="{A533F708-E52D-457C-A7F8-10572970A2AA}"/>
              </a:ext>
            </a:extLst>
          </p:cNvPr>
          <p:cNvSpPr>
            <a:spLocks xmlns:a="http://schemas.openxmlformats.org/drawingml/2006/main" noGrp="1"/>
          </p:cNvSpPr>
          <p:nvPr/>
        </p:nvSpPr>
        <p:spPr>
          <a:xfrm xmlns:a="http://schemas.openxmlformats.org/drawingml/2006/main">
            <a:off x="704850" y="3314700"/>
            <a:ext cx="52578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75" b="1">
                <a:solidFill>
                  <a:srgbClr val="007F88"/>
                </a:solidFill>
                <a:latin typeface="Segoe UI"/>
                <a:ea typeface="Segoe UI"/>
                <a:cs typeface="Segoe UI"/>
              </a:defRPr>
            </a:pPr>
            <a:r>
              <a:rPr sz="2475" b="1">
                <a:solidFill>
                  <a:srgbClr val="007F88"/>
                </a:solidFill>
                <a:latin typeface="Segoe UI"/>
                <a:ea typeface="Segoe UI"/>
                <a:cs typeface="Segoe UI"/>
              </a:rPr>
              <a:t>TAT by run and stage</a:t>
            </a:r>
          </a:p>
        </p:txBody>
      </p:sp>
      <p:sp>
        <p:nvSpPr>
          <p:cNvPr id="7" name="Review start/end times and runtime">
            <a:extLst xmlns:a="http://schemas.openxmlformats.org/drawingml/2006/main">
              <a:ext uri="{FF2B5EF4-FFF2-40B4-BE49-F238E27FC236}">
                <a16:creationId xmlns:a16="http://schemas.microsoft.com/office/drawing/2014/main" id="{F5BB50B4-02A6-457F-9897-2748CFEA4A87}"/>
              </a:ext>
            </a:extLst>
          </p:cNvPr>
          <p:cNvSpPr>
            <a:spLocks xmlns:a="http://schemas.openxmlformats.org/drawingml/2006/main" noGrp="1"/>
          </p:cNvSpPr>
          <p:nvPr/>
        </p:nvSpPr>
        <p:spPr>
          <a:xfrm xmlns:a="http://schemas.openxmlformats.org/drawingml/2006/main">
            <a:off x="6210300" y="3324225"/>
            <a:ext cx="5381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02A36"/>
                </a:solidFill>
                <a:latin typeface="Segoe UI"/>
                <a:ea typeface="Segoe UI"/>
                <a:cs typeface="Segoe UI"/>
              </a:defRPr>
            </a:pPr>
            <a:r>
              <a:rPr sz="1950" b="0">
                <a:solidFill>
                  <a:srgbClr val="102A36"/>
                </a:solidFill>
                <a:latin typeface="Segoe UI"/>
                <a:ea typeface="Segoe UI"/>
                <a:cs typeface="Segoe UI"/>
              </a:rPr>
              <a:t>Review start/end times and runtime</a:t>
            </a:r>
          </a:p>
          <a:p xmlns:a="http://schemas.openxmlformats.org/drawingml/2006/main">
            <a:pPr>
              <a:buNone/>
              <a:defRPr sz="1950" b="0">
                <a:solidFill>
                  <a:srgbClr val="102A36"/>
                </a:solidFill>
                <a:latin typeface="Segoe UI"/>
                <a:ea typeface="Segoe UI"/>
                <a:cs typeface="Segoe UI"/>
              </a:defRPr>
            </a:pPr>
            <a:r>
              <a:rPr sz="1950" b="0">
                <a:solidFill>
                  <a:srgbClr val="102A36"/>
                </a:solidFill>
                <a:latin typeface="Segoe UI"/>
                <a:ea typeface="Segoe UI"/>
                <a:cs typeface="Segoe UI"/>
              </a:rPr>
              <a:t>to investigate long-running stages.</a:t>
            </a:r>
          </a:p>
        </p:txBody>
      </p:sp>
      <p:sp>
        <p:nvSpPr>
          <p:cNvPr id="8" name="Baseline decisions">
            <a:extLst xmlns:a="http://schemas.openxmlformats.org/drawingml/2006/main">
              <a:ext uri="{FF2B5EF4-FFF2-40B4-BE49-F238E27FC236}">
                <a16:creationId xmlns:a16="http://schemas.microsoft.com/office/drawing/2014/main" id="{9980784B-56BA-478C-8632-CC26420A13FC}"/>
              </a:ext>
            </a:extLst>
          </p:cNvPr>
          <p:cNvSpPr>
            <a:spLocks xmlns:a="http://schemas.openxmlformats.org/drawingml/2006/main" noGrp="1"/>
          </p:cNvSpPr>
          <p:nvPr/>
        </p:nvSpPr>
        <p:spPr>
          <a:xfrm xmlns:a="http://schemas.openxmlformats.org/drawingml/2006/main">
            <a:off x="704850" y="4419600"/>
            <a:ext cx="52578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75" b="1">
                <a:solidFill>
                  <a:srgbClr val="007F88"/>
                </a:solidFill>
                <a:latin typeface="Segoe UI"/>
                <a:ea typeface="Segoe UI"/>
                <a:cs typeface="Segoe UI"/>
              </a:defRPr>
            </a:pPr>
            <a:r>
              <a:rPr sz="2475" b="1">
                <a:solidFill>
                  <a:srgbClr val="007F88"/>
                </a:solidFill>
                <a:latin typeface="Segoe UI"/>
                <a:ea typeface="Segoe UI"/>
                <a:cs typeface="Segoe UI"/>
              </a:rPr>
              <a:t>Baseline decisions</a:t>
            </a:r>
          </a:p>
        </p:txBody>
      </p:sp>
      <p:sp>
        <p:nvSpPr>
          <p:cNvPr id="9" name="Compare QoR across candidate runs">
            <a:extLst xmlns:a="http://schemas.openxmlformats.org/drawingml/2006/main">
              <a:ext uri="{FF2B5EF4-FFF2-40B4-BE49-F238E27FC236}">
                <a16:creationId xmlns:a16="http://schemas.microsoft.com/office/drawing/2014/main" id="{8B31C0A9-383D-44BC-98F8-CC018AAAB469}"/>
              </a:ext>
            </a:extLst>
          </p:cNvPr>
          <p:cNvSpPr>
            <a:spLocks xmlns:a="http://schemas.openxmlformats.org/drawingml/2006/main" noGrp="1"/>
          </p:cNvSpPr>
          <p:nvPr/>
        </p:nvSpPr>
        <p:spPr>
          <a:xfrm xmlns:a="http://schemas.openxmlformats.org/drawingml/2006/main">
            <a:off x="6210300" y="4429125"/>
            <a:ext cx="5381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02A36"/>
                </a:solidFill>
                <a:latin typeface="Segoe UI"/>
                <a:ea typeface="Segoe UI"/>
                <a:cs typeface="Segoe UI"/>
              </a:defRPr>
            </a:pPr>
            <a:r>
              <a:rPr sz="1950" b="0">
                <a:solidFill>
                  <a:srgbClr val="102A36"/>
                </a:solidFill>
                <a:latin typeface="Segoe UI"/>
                <a:ea typeface="Segoe UI"/>
                <a:cs typeface="Segoe UI"/>
              </a:rPr>
              <a:t>Compare QoR across candidate runs</a:t>
            </a:r>
          </a:p>
          <a:p xmlns:a="http://schemas.openxmlformats.org/drawingml/2006/main">
            <a:pPr>
              <a:buNone/>
              <a:defRPr sz="1950" b="0">
                <a:solidFill>
                  <a:srgbClr val="102A36"/>
                </a:solidFill>
                <a:latin typeface="Segoe UI"/>
                <a:ea typeface="Segoe UI"/>
                <a:cs typeface="Segoe UI"/>
              </a:defRPr>
            </a:pPr>
            <a:r>
              <a:rPr sz="1950" b="0">
                <a:solidFill>
                  <a:srgbClr val="102A36"/>
                </a:solidFill>
                <a:latin typeface="Segoe UI"/>
                <a:ea typeface="Segoe UI"/>
                <a:cs typeface="Segoe UI"/>
              </a:rPr>
              <a:t>and a chosen golden baseline.</a:t>
            </a:r>
          </a:p>
        </p:txBody>
      </p:sp>
      <p:sp>
        <p:nvSpPr>
          <p:cNvPr id="10" name="INTENDED IMPACT">
            <a:extLst xmlns:a="http://schemas.openxmlformats.org/drawingml/2006/main">
              <a:ext uri="{FF2B5EF4-FFF2-40B4-BE49-F238E27FC236}">
                <a16:creationId xmlns:a16="http://schemas.microsoft.com/office/drawing/2014/main" id="{0462FAC4-A029-4BA9-A5F5-A7253A4A9FB4}"/>
              </a:ext>
            </a:extLst>
          </p:cNvPr>
          <p:cNvSpPr>
            <a:spLocks xmlns:a="http://schemas.openxmlformats.org/drawingml/2006/main" noGrp="1"/>
          </p:cNvSpPr>
          <p:nvPr/>
        </p:nvSpPr>
        <p:spPr>
          <a:xfrm xmlns:a="http://schemas.openxmlformats.org/drawingml/2006/main">
            <a:off x="704850" y="5829300"/>
            <a:ext cx="2286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1">
                <a:solidFill>
                  <a:srgbClr val="007F88"/>
                </a:solidFill>
                <a:latin typeface="Segoe UI"/>
                <a:ea typeface="Segoe UI"/>
                <a:cs typeface="Segoe UI"/>
              </a:defRPr>
            </a:pPr>
            <a:r>
              <a:rPr sz="1275" b="1">
                <a:solidFill>
                  <a:srgbClr val="007F88"/>
                </a:solidFill>
                <a:latin typeface="Segoe UI"/>
                <a:ea typeface="Segoe UI"/>
                <a:cs typeface="Segoe UI"/>
              </a:rPr>
              <a:t>INTENDED IMPACT</a:t>
            </a:r>
          </a:p>
        </p:txBody>
      </p:sp>
      <p:sp>
        <p:nvSpPr>
          <p:cNvPr id="11" name="Less manual status collation. More time for engineering">
            <a:extLst xmlns:a="http://schemas.openxmlformats.org/drawingml/2006/main">
              <a:ext uri="{FF2B5EF4-FFF2-40B4-BE49-F238E27FC236}">
                <a16:creationId xmlns:a16="http://schemas.microsoft.com/office/drawing/2014/main" id="{5CCF3BF3-536C-46C9-BB30-1A06DD03DE8E}"/>
              </a:ext>
            </a:extLst>
          </p:cNvPr>
          <p:cNvSpPr>
            <a:spLocks xmlns:a="http://schemas.openxmlformats.org/drawingml/2006/main" noGrp="1"/>
          </p:cNvSpPr>
          <p:nvPr/>
        </p:nvSpPr>
        <p:spPr>
          <a:xfrm xmlns:a="http://schemas.openxmlformats.org/drawingml/2006/main">
            <a:off x="3057525" y="5791200"/>
            <a:ext cx="85534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102A36"/>
                </a:solidFill>
                <a:latin typeface="Segoe UI"/>
                <a:ea typeface="Segoe UI"/>
                <a:cs typeface="Segoe UI"/>
              </a:defRPr>
            </a:pPr>
            <a:r>
              <a:rPr sz="2025" b="0">
                <a:solidFill>
                  <a:srgbClr val="102A36"/>
                </a:solidFill>
                <a:latin typeface="Segoe UI"/>
                <a:ea typeface="Segoe UI"/>
                <a:cs typeface="Segoe UI"/>
              </a:rPr>
              <a:t>Less manual status collation. More time for engineering review.</a:t>
            </a:r>
          </a:p>
        </p:txBody>
      </p:sp>
    </p:spTree>
    <p:extLst>
      <p:ext uri="{BB962C8B-B14F-4D97-AF65-F5344CB8AC3E}">
        <p14:creationId xmlns:p14="http://schemas.microsoft.com/office/powerpoint/2010/main" val="213984289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2026-10-05T06:42:50.3800000Z</dcterms:created>
  <dcterms:modified xsi:type="dcterms:W3CDTF">2026-10-05T06:42:50.3800000Z</dcterms:modified>
</coreProperties>
</file>