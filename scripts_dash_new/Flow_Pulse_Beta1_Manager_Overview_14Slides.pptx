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02920"/>
            <a:ext cx="6217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FLOW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7280"/>
            <a:ext cx="6217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21CDE6"/>
                </a:solidFill>
              </a:defRPr>
            </a:pPr>
            <a:r>
              <a:t>Beta 1 Physical Design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53949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DCE6F5"/>
                </a:solidFill>
              </a:defRPr>
            </a:pPr>
            <a:r>
              <a:t>A single desktop dashboard for FE synthesis, BE PNR stages, signoff status, QoR comparison, timeline flow, notes, and run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66360"/>
            <a:ext cx="1965960" cy="841248"/>
          </a:xfrm>
          <a:prstGeom prst="roundRect">
            <a:avLst/>
          </a:prstGeom>
          <a:solidFill>
            <a:srgbClr val="121E34"/>
          </a:solidFill>
          <a:ln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28523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AABAD2"/>
                </a:solidFill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50408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2884FF"/>
                </a:solidFill>
              </a:defRPr>
            </a:pPr>
            <a:r>
              <a:t>WS + OUTFEED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5166360"/>
            <a:ext cx="1965960" cy="841248"/>
          </a:xfrm>
          <a:prstGeom prst="roundRect">
            <a:avLst/>
          </a:prstGeom>
          <a:solidFill>
            <a:srgbClr val="121E34"/>
          </a:solidFill>
          <a:ln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528523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AABAD2"/>
                </a:solidFill>
              </a:defRPr>
            </a:pPr>
            <a: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5550408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21CDE6"/>
                </a:solidFill>
              </a:defRPr>
            </a:pPr>
            <a:r>
              <a:t>FC + Innovus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5166360"/>
            <a:ext cx="1965960" cy="841248"/>
          </a:xfrm>
          <a:prstGeom prst="roundRect">
            <a:avLst/>
          </a:prstGeom>
          <a:solidFill>
            <a:srgbClr val="121E34"/>
          </a:solidFill>
          <a:ln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528523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AABAD2"/>
                </a:solidFill>
              </a:defRPr>
            </a:pPr>
            <a:r>
              <a:t>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5550408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3CBE78"/>
                </a:solidFill>
              </a:defRPr>
            </a:pPr>
            <a:r>
              <a:t>QoR + Signoff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166360"/>
            <a:ext cx="1965960" cy="841248"/>
          </a:xfrm>
          <a:prstGeom prst="roundRect">
            <a:avLst/>
          </a:prstGeom>
          <a:solidFill>
            <a:srgbClr val="121E34"/>
          </a:solidFill>
          <a:ln>
            <a:solidFill>
              <a:srgbClr val="2D4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5285232"/>
            <a:ext cx="1600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1">
                <a:solidFill>
                  <a:srgbClr val="AABAD2"/>
                </a:solidFill>
              </a:defRPr>
            </a:pPr>
            <a: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5550408"/>
            <a:ext cx="16002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5A037"/>
                </a:solidFill>
              </a:defRPr>
            </a:pPr>
            <a:r>
              <a:t>Mail + Notes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024128"/>
            <a:ext cx="4617720" cy="3977639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58584" y="1170432"/>
            <a:ext cx="4325112" cy="368503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692908"/>
            <a:ext cx="4160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MAIN DASHBOARD 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074920"/>
            <a:ext cx="4617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Place full Flow Pulse dashboard screenshot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What Flow Pulse gives managers and PD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474720" cy="137160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73152" cy="13716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35607"/>
            <a:ext cx="3127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One view of project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64792"/>
            <a:ext cx="3127248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Track completed, running, failed, ignored, pinned, and selected runs across FE, BE, FC, Innovus, WS, and OUTFEED.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325880"/>
            <a:ext cx="3474720" cy="137160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325880"/>
            <a:ext cx="73152" cy="137160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3127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Faster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64792"/>
            <a:ext cx="3127248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Block and BE stage summaries compress many report checks into review-ready tables and HTML mail.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325880"/>
            <a:ext cx="3474720" cy="137160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325880"/>
            <a:ext cx="73152" cy="137160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435607"/>
            <a:ext cx="3127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Risk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1764792"/>
            <a:ext cx="3127248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Timing, congestion, VT mix, utilization, runtime, FM, VSLP, PT, IR, and regression signals are visible in one 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525780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CE6F5"/>
                </a:solidFill>
              </a:defRPr>
            </a:pPr>
            <a:r>
              <a:t>- Reduces manual folder and report checking during milestone reviews</a:t>
            </a:r>
          </a:p>
          <a:p>
            <a:pPr>
              <a:spcAft>
                <a:spcPts val="600"/>
              </a:spcAft>
              <a:defRPr sz="1600">
                <a:solidFill>
                  <a:srgbClr val="DCE6F5"/>
                </a:solidFill>
              </a:defRPr>
            </a:pPr>
            <a:r>
              <a:t>- Makes run quality, failures, and schedule gaps visible before manager meetings</a:t>
            </a:r>
          </a:p>
          <a:p>
            <a:pPr>
              <a:spcAft>
                <a:spcPts val="600"/>
              </a:spcAft>
              <a:defRPr sz="1600">
                <a:solidFill>
                  <a:srgbClr val="DCE6F5"/>
                </a:solidFill>
              </a:defRPr>
            </a:pPr>
            <a:r>
              <a:t>- Keeps startup fast by parsing heavy metrics only when requested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063240"/>
            <a:ext cx="4754880" cy="224028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38544" y="3209544"/>
            <a:ext cx="4462272" cy="1947672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863340"/>
            <a:ext cx="4297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SUMMARY VIEW 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76672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Optional: selected-run or block summary 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Pain Points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Current tracking work is fragmented and slow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5029200" cy="13258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F5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527048"/>
            <a:ext cx="46817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555F"/>
                </a:solidFill>
              </a:defRPr>
            </a:pPr>
            <a:r>
              <a:t>Scattered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56232"/>
            <a:ext cx="4681728" cy="8138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Runs, logs, reports, pass files, screenshots, and side reports live in different directory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17320"/>
            <a:ext cx="5029200" cy="13258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73152" cy="132588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1527048"/>
            <a:ext cx="46817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Manual review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1856232"/>
            <a:ext cx="4681728" cy="8138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Engineers repeatedly open reports and terminal windows for the same status and QoR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6120"/>
            <a:ext cx="5029200" cy="13258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6120"/>
            <a:ext cx="73152" cy="132588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355848"/>
            <a:ext cx="46817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Limited manager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85031"/>
            <a:ext cx="4681728" cy="8138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Project status is hard to summarize when runs are split across FE, BE, outfeed, and tool 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246120"/>
            <a:ext cx="5029200" cy="13258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246120"/>
            <a:ext cx="73152" cy="132588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3355848"/>
            <a:ext cx="46817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NFS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3685031"/>
            <a:ext cx="4681728" cy="8138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Naive scanning or eager metric extraction can slow the GUI or trigger memory/runtime problems.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21CDE6"/>
                </a:solidFill>
              </a:defRPr>
            </a:pPr>
            <a:r>
              <a:t>Flow Pulse converts these into one scan, one review surface, and one reporting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Coverage and Directory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Normalized across project structures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196596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3152" cy="128016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35607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WS 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764792"/>
            <a:ext cx="161848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run-FE reports, logs, pass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325880"/>
            <a:ext cx="196596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325880"/>
            <a:ext cx="73152" cy="128016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1435607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WS 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764792"/>
            <a:ext cx="161848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run-BE stage reports and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325880"/>
            <a:ext cx="196596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325880"/>
            <a:ext cx="73152" cy="128016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435607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OUTFEED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1764792"/>
            <a:ext cx="161848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published FE/BE/Innovus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325880"/>
            <a:ext cx="196596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325880"/>
            <a:ext cx="73152" cy="128016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435607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Side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1764792"/>
            <a:ext cx="161848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FM, VSLP, PT, IR, regression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325880"/>
            <a:ext cx="196596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73152" cy="128016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1435607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1764792"/>
            <a:ext cx="161848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Fusion Compiler and Innovus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94760"/>
            <a:ext cx="1417320" cy="594360"/>
          </a:xfrm>
          <a:prstGeom prst="roundRect">
            <a:avLst/>
          </a:prstGeom>
          <a:solidFill>
            <a:srgbClr val="182946"/>
          </a:solidFill>
          <a:ln>
            <a:solidFill>
              <a:srgbClr val="2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Block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31720" y="4096512"/>
            <a:ext cx="731520" cy="0"/>
          </a:xfrm>
          <a:prstGeom prst="line">
            <a:avLst/>
          </a:prstGeom>
          <a:ln w="19050">
            <a:solidFill>
              <a:srgbClr val="21C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063240" y="3794760"/>
            <a:ext cx="1417320" cy="594360"/>
          </a:xfrm>
          <a:prstGeom prst="roundRect">
            <a:avLst/>
          </a:prstGeom>
          <a:solidFill>
            <a:srgbClr val="182946"/>
          </a:solidFill>
          <a:ln>
            <a:solidFill>
              <a:srgbClr val="21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Milestone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80560" y="4096512"/>
            <a:ext cx="731520" cy="0"/>
          </a:xfrm>
          <a:prstGeom prst="line">
            <a:avLst/>
          </a:prstGeom>
          <a:ln w="19050">
            <a:solidFill>
              <a:srgbClr val="21C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12080" y="3794760"/>
            <a:ext cx="1417320" cy="594360"/>
          </a:xfrm>
          <a:prstGeom prst="roundRect">
            <a:avLst/>
          </a:prstGeom>
          <a:solidFill>
            <a:srgbClr val="182946"/>
          </a:solidFill>
          <a:ln>
            <a:solidFill>
              <a:srgbClr val="3C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RTL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29400" y="4096512"/>
            <a:ext cx="731520" cy="0"/>
          </a:xfrm>
          <a:prstGeom prst="line">
            <a:avLst/>
          </a:prstGeom>
          <a:ln w="19050">
            <a:solidFill>
              <a:srgbClr val="21C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60920" y="3794760"/>
            <a:ext cx="1417320" cy="594360"/>
          </a:xfrm>
          <a:prstGeom prst="roundRect">
            <a:avLst/>
          </a:prstGeom>
          <a:solidFill>
            <a:srgbClr val="182946"/>
          </a:solidFill>
          <a:ln>
            <a:solidFill>
              <a:srgbClr val="F5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78240" y="4096512"/>
            <a:ext cx="731520" cy="0"/>
          </a:xfrm>
          <a:prstGeom prst="line">
            <a:avLst/>
          </a:prstGeom>
          <a:ln w="19050">
            <a:solidFill>
              <a:srgbClr val="21C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09760" y="3794760"/>
            <a:ext cx="1417320" cy="594360"/>
          </a:xfrm>
          <a:prstGeom prst="roundRect">
            <a:avLst/>
          </a:prstGeom>
          <a:solidFill>
            <a:srgbClr val="182946"/>
          </a:solidFill>
          <a:ln>
            <a:solidFill>
              <a:srgbClr val="9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PNR Stage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058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DCE6F5"/>
                </a:solidFill>
              </a:defRPr>
            </a:pPr>
            <a:r>
              <a:t>All sources are converted into one review hierarchy so teams compare different tool flows without changing mental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Unified Run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The operational home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98448"/>
            <a:ext cx="6629400" cy="443484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444751"/>
            <a:ext cx="6336792" cy="414223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95827"/>
            <a:ext cx="6172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RUN EXPLORER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6629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Place screenshot showing tree/table, filters, pinned runs, notes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234440"/>
            <a:ext cx="35661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234440"/>
            <a:ext cx="73152" cy="109728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344168"/>
            <a:ext cx="3218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Core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1673352"/>
            <a:ext cx="32186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Search, release filters, view filters, mode dropdown, config filters, pinning, stage expansion, and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606040"/>
            <a:ext cx="35661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2606040"/>
            <a:ext cx="73152" cy="109728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2715768"/>
            <a:ext cx="3218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Context Menu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044952"/>
            <a:ext cx="32186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QoR summary, timeline, app options diff, RoR diff, mail, size, notes, screenshots, and stage summaries.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977639"/>
            <a:ext cx="35661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3977639"/>
            <a:ext cx="73152" cy="109728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8" y="4087368"/>
            <a:ext cx="3218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Manager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416552"/>
            <a:ext cx="32186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Quickly identify which blocks need attention and which runs are ready for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 Block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Synthesis-level metrics and review 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98448"/>
            <a:ext cx="5394960" cy="434340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444751"/>
            <a:ext cx="5102352" cy="405079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0108"/>
            <a:ext cx="49377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FE BLOCK SUMMARY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5000"/>
            <a:ext cx="5394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Place FE Block Summary table/chart screenshot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242316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123444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344168"/>
            <a:ext cx="2075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QoR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673352"/>
            <a:ext cx="207568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Area, gate count, instance count, VT area/inst mix, utilization, MBIT, timing, congestion, power, clock gating.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234440"/>
            <a:ext cx="242316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234440"/>
            <a:ext cx="73152" cy="123444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344168"/>
            <a:ext cx="2075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673352"/>
            <a:ext cx="207568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CSV export, HTML mail, clickable report links, chart view, and shared/personal notes.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743200"/>
            <a:ext cx="242316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743200"/>
            <a:ext cx="73152" cy="123444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852928"/>
            <a:ext cx="2075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182112"/>
            <a:ext cx="207568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Start, end, elapsed runtime, relative timestamp, and IST conversion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743200"/>
            <a:ext cx="242316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743200"/>
            <a:ext cx="73152" cy="123444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2852928"/>
            <a:ext cx="2075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Stability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182112"/>
            <a:ext cx="207568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On-demand parser avoids OOM and keeps initial dashboard launch fast.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34840"/>
            <a:ext cx="4983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- Designed for block review meetings</a:t>
            </a:r>
          </a:p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- Reuses project-configurable gate-count unit area</a:t>
            </a:r>
          </a:p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- Supports selected-run focused summaries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 Stage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Implementation-stage risk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98448"/>
            <a:ext cx="5669280" cy="434340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444751"/>
            <a:ext cx="5376672" cy="405079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0108"/>
            <a:ext cx="52120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BE STAGE SUMMARY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15000"/>
            <a:ext cx="5669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Place table screenshot for selected PNR stages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1143000"/>
            <a:ext cx="4297680" cy="658368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56832" y="1143000"/>
            <a:ext cx="73152" cy="658368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252728"/>
            <a:ext cx="39502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81912"/>
            <a:ext cx="3950208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R2R setup, total setup, 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2011680"/>
            <a:ext cx="4297680" cy="658368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56832" y="2011680"/>
            <a:ext cx="73152" cy="658368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121408"/>
            <a:ext cx="39502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Physical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50592"/>
            <a:ext cx="3950208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Congestion, shorts, utilization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880360"/>
            <a:ext cx="4297680" cy="658368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56832" y="2880360"/>
            <a:ext cx="73152" cy="658368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990088"/>
            <a:ext cx="39502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319272"/>
            <a:ext cx="3950208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Std cell count/area, gate count, VT mix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6832" y="3749039"/>
            <a:ext cx="4297680" cy="658368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56832" y="3749039"/>
            <a:ext cx="73152" cy="658368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858768"/>
            <a:ext cx="39502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Clocking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87952"/>
            <a:ext cx="3950208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Skew, latency, repeater count/area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4617720"/>
            <a:ext cx="4297680" cy="658368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56832" y="4617720"/>
            <a:ext cx="73152" cy="658368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727448"/>
            <a:ext cx="395020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056631"/>
            <a:ext cx="3950208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Stage runtime and start/end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623560"/>
            <a:ext cx="4206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1">
                <a:solidFill>
                  <a:srgbClr val="21CDE6"/>
                </a:solidFill>
              </a:defRPr>
            </a:pPr>
            <a:r>
              <a:t>Works with FC and Innovus stage report formats.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Timeline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FE to BE branch timing and gap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6766560" cy="480060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289304"/>
            <a:ext cx="6473952" cy="4507992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23260"/>
            <a:ext cx="6309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TIMELINE FLOWCHART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16752"/>
            <a:ext cx="6766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Place branching timeline screenshot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33375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234440"/>
            <a:ext cx="73152" cy="109728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1344168"/>
            <a:ext cx="29900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Branch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673352"/>
            <a:ext cx="29900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FE run branches into child BE runs, then into timed PNR stages.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587752"/>
            <a:ext cx="33375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2587752"/>
            <a:ext cx="73152" cy="109728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2697480"/>
            <a:ext cx="29900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Gap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026664"/>
            <a:ext cx="29900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Shows time between FE completion and BE stage starts, plus inter-stage idle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941063"/>
            <a:ext cx="3337560" cy="109728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3941063"/>
            <a:ext cx="73152" cy="109728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4050791"/>
            <a:ext cx="29900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Schedule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4379975"/>
            <a:ext cx="2990088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Find stalled handoffs, repeated ECO loops, and long waits before milestone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Comparison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RoR, golden benchmark, and app-options diff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29184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123444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3441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RoR Metric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673352"/>
            <a:ext cx="294436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Compare selected runs or stages by QoR parameters and expose deltas that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29184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73152" cy="123444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3441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Golden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673352"/>
            <a:ext cx="294436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Pin one milestone run and compare other candidates against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34440"/>
            <a:ext cx="329184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34440"/>
            <a:ext cx="73152" cy="123444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3441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App Options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673352"/>
            <a:ext cx="294436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Compare two or more FE or PNR-stage app-option reports, with all rows or differences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063240"/>
            <a:ext cx="4983480" cy="214884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" y="3209544"/>
            <a:ext cx="4690872" cy="1856232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817620"/>
            <a:ext cx="4526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APP OPTIONS DIFF 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85232"/>
            <a:ext cx="4983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 comparison dialog screenshot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063240"/>
            <a:ext cx="4800600" cy="214884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92824" y="3209544"/>
            <a:ext cx="4507992" cy="1856232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817620"/>
            <a:ext cx="43434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ROR / GOLDEN SCREENSHOT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85232"/>
            <a:ext cx="4800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 metric diff or benchmark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Signoff and Risk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Side reports connected back to each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35607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7647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NONUPF and UPF failpoint status mapped to FE and BE stage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435607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VSLP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7647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Low-power report status visible without manual folder traversal.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435607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PT / 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7647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Timing summary path support for stage-level review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1752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17520"/>
            <a:ext cx="73152" cy="123444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12724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45643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RedHawk logs reverse-map IR results back to run and stage keys.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01752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017520"/>
            <a:ext cx="73152" cy="12344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12724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Regression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45643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Failed-run digest and regression checks help surface high-risk items.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4572000"/>
            <a:ext cx="4389120" cy="114300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78224" y="4718304"/>
            <a:ext cx="4096511" cy="850392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823460"/>
            <a:ext cx="3931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SIGNOFF STATUS SCREENSHOT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788152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 FM/VSLP/PT/IR columns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Collaboration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Notes, mail, configs, and repeatable review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73152" cy="128016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435607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Personal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76479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Private per-user notes saved separately so each engineer can keep local observations.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73152" cy="128016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435607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Shared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76479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Date-wise shared notes let multiple users add review context for the same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73152" cy="128016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435607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HTML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76479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Selected summaries and tables can be sent in review-ready HTML format.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4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63240"/>
            <a:ext cx="73152" cy="128016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1729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Filter Configs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50215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Share a config file so another user can reproduce the same release/block/run 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06324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063240"/>
            <a:ext cx="73152" cy="128016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7" y="31729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Ignore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350215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Exclude noisy or obsolete runs without losing the broader project context.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063240"/>
            <a:ext cx="3291840" cy="128016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063240"/>
            <a:ext cx="73152" cy="128016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3172968"/>
            <a:ext cx="294436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Pinning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3502152"/>
            <a:ext cx="2944368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Mark golden, milestone, or important runs and find them quickly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Utilities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Daily actions from one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123444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34416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Disk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67335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Calculate run folder size and identify heavy storage consumers.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123444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34416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Screenshots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67335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Open FE congestion windows and BE stage map images from the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123444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34416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Gantt /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67335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Visualize activity windows and workload distribution.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260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926080"/>
            <a:ext cx="73152" cy="123444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03580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3649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Export current view or summary tables for offline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9260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926080"/>
            <a:ext cx="73152" cy="1234440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03580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QoR 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3649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Launch existing QoR comparison scripts directly from run context.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926080"/>
            <a:ext cx="3246120" cy="123444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926080"/>
            <a:ext cx="73152" cy="123444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3035808"/>
            <a:ext cx="28986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Fit / Expand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364992"/>
            <a:ext cx="2898648" cy="7223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Column fitting, expand/collapse controls, and view clean-up actions.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4709160"/>
            <a:ext cx="4389120" cy="105156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78224" y="4855464"/>
            <a:ext cx="4096511" cy="75895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4914900"/>
            <a:ext cx="3931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UTILITIES MENU SCREENSHOT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833872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 cleaned Utilities menu screenshot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Performance and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Built for large NFS project trees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3949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E6F5"/>
                </a:solidFill>
              </a:defRPr>
            </a:pPr>
            <a:r>
              <a:t>- Startup scan avoids heavy metric parsing</a:t>
            </a:r>
          </a:p>
          <a:p>
            <a:pPr>
              <a:spcAft>
                <a:spcPts val="600"/>
              </a:spcAft>
              <a:defRPr sz="1400">
                <a:solidFill>
                  <a:srgbClr val="DCE6F5"/>
                </a:solidFill>
              </a:defRPr>
            </a:pPr>
            <a:r>
              <a:t>- Metrics are loaded on demand for QoR dialogs, summaries, hover, and mail</a:t>
            </a:r>
          </a:p>
          <a:p>
            <a:pPr>
              <a:spcAft>
                <a:spcPts val="600"/>
              </a:spcAft>
              <a:defRPr sz="1400">
                <a:solidFill>
                  <a:srgbClr val="DCE6F5"/>
                </a:solidFill>
              </a:defRPr>
            </a:pPr>
            <a:r>
              <a:t>- Stage details, screenshots, FM/VSLP/user info, and disk usage run in background workers</a:t>
            </a:r>
          </a:p>
          <a:p>
            <a:pPr>
              <a:spcAft>
                <a:spcPts val="600"/>
              </a:spcAft>
              <a:defRPr sz="1400">
                <a:solidFill>
                  <a:srgbClr val="DCE6F5"/>
                </a:solidFill>
              </a:defRPr>
            </a:pPr>
            <a:r>
              <a:t>- Worker shutdown hardening reduces QThread aborts during refresh, rebuild, and close</a:t>
            </a:r>
          </a:p>
          <a:p>
            <a:pPr>
              <a:spcAft>
                <a:spcPts val="600"/>
              </a:spcAft>
              <a:defRPr sz="1400">
                <a:solidFill>
                  <a:srgbClr val="DCE6F5"/>
                </a:solidFill>
              </a:defRPr>
            </a:pPr>
            <a:r>
              <a:t>- ASCII source and Python 3.6 syntax checks support RHEL7 compatibility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143000"/>
            <a:ext cx="2331720" cy="96012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143000"/>
            <a:ext cx="73152" cy="96012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252728"/>
            <a:ext cx="1984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Lazy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1581912"/>
            <a:ext cx="19842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Only expand or parse what the user asks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143000"/>
            <a:ext cx="2331720" cy="96012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143000"/>
            <a:ext cx="73152" cy="960120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252728"/>
            <a:ext cx="1984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NFS 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1581912"/>
            <a:ext cx="19842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Avoids scanning every heavy report at launch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468880"/>
            <a:ext cx="2331720" cy="96012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468880"/>
            <a:ext cx="73152" cy="960120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578608"/>
            <a:ext cx="1984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Thread Safe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907792"/>
            <a:ext cx="19842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Stops active workers before tree rebuilds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468880"/>
            <a:ext cx="2331720" cy="960120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468880"/>
            <a:ext cx="73152" cy="960120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578608"/>
            <a:ext cx="19842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Beta 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907792"/>
            <a:ext cx="19842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Compile, callback, duplicate-method, and ASCII audits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977639"/>
            <a:ext cx="4709160" cy="1508760"/>
          </a:xfrm>
          <a:prstGeom prst="roundRect">
            <a:avLst/>
          </a:prstGeom>
          <a:solidFill>
            <a:srgbClr val="0C1628"/>
          </a:solidFill>
          <a:ln w="17780">
            <a:solidFill>
              <a:srgbClr val="21CD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84264" y="4123944"/>
            <a:ext cx="4416552" cy="1216151"/>
          </a:xfrm>
          <a:prstGeom prst="rect">
            <a:avLst/>
          </a:prstGeom>
          <a:solidFill>
            <a:srgbClr val="14223A"/>
          </a:solidFill>
          <a:ln>
            <a:solidFill>
              <a:srgbClr val="34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411980"/>
            <a:ext cx="4251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1CDE6"/>
                </a:solidFill>
              </a:defRPr>
            </a:pPr>
            <a:r>
              <a:t>PERFORMANCE / STATUS SCREENSHOT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559552"/>
            <a:ext cx="4709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0">
                <a:solidFill>
                  <a:srgbClr val="AABAD2"/>
                </a:solidFill>
              </a:defRPr>
            </a:pPr>
            <a:r>
              <a:t>Optional scan status or utilities screenshot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Beta 1 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8046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AABAD2"/>
                </a:solidFill>
              </a:defRPr>
            </a:pPr>
            <a:r>
              <a:t>Recommended path for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347472"/>
            <a:ext cx="2057400" cy="384048"/>
          </a:xfrm>
          <a:prstGeom prst="roundRect">
            <a:avLst/>
          </a:prstGeom>
          <a:solidFill>
            <a:srgbClr val="182946"/>
          </a:solidFill>
          <a:ln>
            <a:solidFill>
              <a:srgbClr val="506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1CDE6"/>
                </a:solidFill>
              </a:defRPr>
            </a:pPr>
            <a:r>
              <a:t>Beta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AABAD2"/>
                </a:solidFill>
              </a:defRPr>
            </a:pPr>
            <a:r>
              <a:t>Flow Pulse | Beta 1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0">
                <a:solidFill>
                  <a:srgbClr val="AABAD2"/>
                </a:solidFill>
              </a:defRPr>
            </a:pPr>
            <a:r>
              <a:t>14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1965960" cy="1874519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1874519"/>
          </a:xfrm>
          <a:prstGeom prst="rect">
            <a:avLst/>
          </a:prstGeom>
          <a:solidFill>
            <a:srgbClr val="2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344168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884FF"/>
                </a:solidFill>
              </a:defRPr>
            </a:pPr>
            <a:r>
              <a:t>1.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673352"/>
            <a:ext cx="1618488" cy="13624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Run on priority blocks and RTL releases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234440"/>
            <a:ext cx="1965960" cy="1874519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234440"/>
            <a:ext cx="73152" cy="1874519"/>
          </a:xfrm>
          <a:prstGeom prst="rect">
            <a:avLst/>
          </a:prstGeom>
          <a:solidFill>
            <a:srgbClr val="21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1344168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21CDE6"/>
                </a:solidFill>
              </a:defRPr>
            </a:pPr>
            <a:r>
              <a:t>2. Standardize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673352"/>
            <a:ext cx="1618488" cy="13624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Share project config and filter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234440"/>
            <a:ext cx="1965960" cy="1874519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234440"/>
            <a:ext cx="73152" cy="1874519"/>
          </a:xfrm>
          <a:prstGeom prst="rect">
            <a:avLst/>
          </a:prstGeom>
          <a:solidFill>
            <a:srgbClr val="3C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344168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3CBE78"/>
                </a:solidFill>
              </a:defRPr>
            </a:pPr>
            <a:r>
              <a:t>3.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1673352"/>
            <a:ext cx="1618488" cy="13624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Use FE and BE summary mail for weekly PD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234440"/>
            <a:ext cx="1965960" cy="1874519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234440"/>
            <a:ext cx="73152" cy="1874519"/>
          </a:xfrm>
          <a:prstGeom prst="rect">
            <a:avLst/>
          </a:prstGeom>
          <a:solidFill>
            <a:srgbClr val="F5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1344168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F5A037"/>
                </a:solidFill>
              </a:defRPr>
            </a:pPr>
            <a:r>
              <a:t>4.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1673352"/>
            <a:ext cx="1618488" cy="13624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Add persistent metric cache and manager scorecards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234440"/>
            <a:ext cx="1965960" cy="1874519"/>
          </a:xfrm>
          <a:prstGeom prst="roundRect">
            <a:avLst/>
          </a:prstGeom>
          <a:solidFill>
            <a:srgbClr val="121E34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234440"/>
            <a:ext cx="73152" cy="1874519"/>
          </a:xfrm>
          <a:prstGeom prst="rect">
            <a:avLst/>
          </a:prstGeom>
          <a:solidFill>
            <a:srgbClr val="9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1344168"/>
            <a:ext cx="16184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9669FF"/>
                </a:solidFill>
              </a:defRPr>
            </a:pPr>
            <a:r>
              <a:t>5. 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1673352"/>
            <a:ext cx="1618488" cy="13624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20" b="0">
                <a:solidFill>
                  <a:srgbClr val="DCE6F5"/>
                </a:solidFill>
              </a:defRPr>
            </a:pPr>
            <a:r>
              <a:t>Protect source and ship as controlled internal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13632"/>
            <a:ext cx="10515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21CDE6"/>
                </a:solidFill>
              </a:defRPr>
            </a:pPr>
            <a:r>
              <a:t>Manager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553712"/>
            <a:ext cx="89611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DCE6F5"/>
                </a:solidFill>
              </a:defRPr>
            </a:pPr>
            <a:r>
              <a:t>- Approve Beta 1 validation on active blocks</a:t>
            </a:r>
          </a:p>
          <a:p>
            <a:pPr>
              <a:spcAft>
                <a:spcPts val="600"/>
              </a:spcAft>
              <a:defRPr sz="1700">
                <a:solidFill>
                  <a:srgbClr val="DCE6F5"/>
                </a:solidFill>
              </a:defRPr>
            </a:pPr>
            <a:r>
              <a:t>- Nominate review owners for FE summary, BE stage summary, and timeline feedback</a:t>
            </a:r>
          </a:p>
          <a:p>
            <a:pPr>
              <a:spcAft>
                <a:spcPts val="600"/>
              </a:spcAft>
              <a:defRPr sz="1700">
                <a:solidFill>
                  <a:srgbClr val="DCE6F5"/>
                </a:solidFill>
              </a:defRPr>
            </a:pPr>
            <a:r>
              <a:t>- Define top risk thresholds that should become automatic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